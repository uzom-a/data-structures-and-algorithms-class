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chivo Black" charset="1" panose="020B0A03020202020B04"/>
      <p:regular r:id="rId13"/>
    </p:embeddedFont>
    <p:embeddedFont>
      <p:font typeface="Red Hat Display" charset="1" panose="020105030402010603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2404" y="2625595"/>
            <a:ext cx="14554173" cy="320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18"/>
              </a:lnSpc>
            </a:pPr>
            <a:r>
              <a:rPr lang="en-US" sz="1299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DSA LAB II PRESENTATION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2404" y="6168546"/>
            <a:ext cx="10835284" cy="74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2"/>
              </a:lnSpc>
              <a:spcBef>
                <a:spcPct val="0"/>
              </a:spcBef>
            </a:pPr>
            <a:r>
              <a:rPr lang="en-US" sz="4373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Presented by Kelvin, Uzoma and Dharambir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1542318">
            <a:off x="13654428" y="80032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20102" y="-96383"/>
            <a:ext cx="12099423" cy="26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1"/>
              </a:lnSpc>
            </a:pPr>
            <a:r>
              <a:rPr lang="en-US" sz="10300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Core Functionality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3583922"/>
            <a:ext cx="10946784" cy="670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8337" indent="-284169" lvl="1">
              <a:lnSpc>
                <a:spcPts val="3553"/>
              </a:lnSpc>
              <a:buAutoNum type="arabicPeriod" startAt="1"/>
            </a:pPr>
            <a:r>
              <a:rPr lang="en-US" sz="2632" spc="15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Transaction Storage</a:t>
            </a:r>
          </a:p>
          <a:p>
            <a:pPr algn="l" marL="568337" indent="-284169" lvl="1">
              <a:lnSpc>
                <a:spcPts val="3553"/>
              </a:lnSpc>
              <a:spcBef>
                <a:spcPct val="0"/>
              </a:spcBef>
              <a:buAutoNum type="arabicPeriod" startAt="1"/>
            </a:pPr>
            <a:r>
              <a:rPr lang="en-US" sz="2632" spc="15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Save every completed sh</a:t>
            </a:r>
            <a:r>
              <a:rPr lang="en-US" sz="2632" spc="15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opping transaction to a persistent file (CSV/TXT or similar) for later retrieval and analysis.</a:t>
            </a:r>
          </a:p>
          <a:p>
            <a:pPr algn="l" marL="568337" indent="-284169" lvl="1">
              <a:lnSpc>
                <a:spcPts val="3553"/>
              </a:lnSpc>
              <a:spcBef>
                <a:spcPct val="0"/>
              </a:spcBef>
              <a:buAutoNum type="arabicPeriod" startAt="1"/>
            </a:pPr>
            <a:r>
              <a:rPr lang="en-US" sz="2632" spc="15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Database Logging</a:t>
            </a:r>
          </a:p>
          <a:p>
            <a:pPr algn="l" marL="568337" indent="-284169" lvl="1">
              <a:lnSpc>
                <a:spcPts val="3553"/>
              </a:lnSpc>
              <a:spcBef>
                <a:spcPct val="0"/>
              </a:spcBef>
              <a:buAutoNum type="arabicPeriod" startAt="1"/>
            </a:pPr>
            <a:r>
              <a:rPr lang="en-US" sz="2632" spc="15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Treat the stored file as a simple database to keep all receipts organized for future research or business insights.</a:t>
            </a:r>
          </a:p>
          <a:p>
            <a:pPr algn="l" marL="568337" indent="-284169" lvl="1">
              <a:lnSpc>
                <a:spcPts val="3553"/>
              </a:lnSpc>
              <a:spcBef>
                <a:spcPct val="0"/>
              </a:spcBef>
              <a:buAutoNum type="arabicPeriod" startAt="1"/>
            </a:pPr>
            <a:r>
              <a:rPr lang="en-US" sz="2632" spc="15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Graphical User Interface (GUI)</a:t>
            </a:r>
          </a:p>
          <a:p>
            <a:pPr algn="l" marL="568337" indent="-284169" lvl="1">
              <a:lnSpc>
                <a:spcPts val="3553"/>
              </a:lnSpc>
              <a:spcBef>
                <a:spcPct val="0"/>
              </a:spcBef>
              <a:buAutoNum type="arabicPeriod" startAt="1"/>
            </a:pPr>
            <a:r>
              <a:rPr lang="en-US" sz="2632" spc="15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Provide an interface to:</a:t>
            </a:r>
          </a:p>
          <a:p>
            <a:pPr algn="l" marL="568337" indent="-284169" lvl="1">
              <a:lnSpc>
                <a:spcPts val="3553"/>
              </a:lnSpc>
              <a:spcBef>
                <a:spcPct val="0"/>
              </a:spcBef>
              <a:buAutoNum type="arabicPeriod" startAt="1"/>
            </a:pPr>
            <a:r>
              <a:rPr lang="en-US" sz="2632" spc="15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Add, remove, or update cart items.</a:t>
            </a:r>
          </a:p>
          <a:p>
            <a:pPr algn="l" marL="568337" indent="-284169" lvl="1">
              <a:lnSpc>
                <a:spcPts val="3553"/>
              </a:lnSpc>
              <a:spcBef>
                <a:spcPct val="0"/>
              </a:spcBef>
              <a:buAutoNum type="arabicPeriod" startAt="1"/>
            </a:pPr>
            <a:r>
              <a:rPr lang="en-US" sz="2632" spc="15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Complete transactions and save them to the file.</a:t>
            </a:r>
          </a:p>
          <a:p>
            <a:pPr algn="l" marL="568337" indent="-284169" lvl="1">
              <a:lnSpc>
                <a:spcPts val="3553"/>
              </a:lnSpc>
              <a:spcBef>
                <a:spcPct val="0"/>
              </a:spcBef>
              <a:buAutoNum type="arabicPeriod" startAt="1"/>
            </a:pPr>
            <a:r>
              <a:rPr lang="en-US" sz="2632" spc="15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View past transactions and receipts.</a:t>
            </a:r>
          </a:p>
          <a:p>
            <a:pPr algn="l" marL="568337" indent="-284169" lvl="1">
              <a:lnSpc>
                <a:spcPts val="3553"/>
              </a:lnSpc>
              <a:spcBef>
                <a:spcPct val="0"/>
              </a:spcBef>
              <a:buAutoNum type="arabicPeriod" startAt="1"/>
            </a:pPr>
            <a:r>
              <a:rPr lang="en-US" sz="2632" spc="15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File Management</a:t>
            </a:r>
          </a:p>
          <a:p>
            <a:pPr algn="l" marL="568337" indent="-284169" lvl="1">
              <a:lnSpc>
                <a:spcPts val="3553"/>
              </a:lnSpc>
              <a:spcBef>
                <a:spcPct val="0"/>
              </a:spcBef>
              <a:buAutoNum type="arabicPeriod" startAt="1"/>
            </a:pPr>
            <a:r>
              <a:rPr lang="en-US" sz="2632" spc="157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Ensure the transaction file is properly formatted and easy to process for future improvements or data analysis.</a:t>
            </a:r>
          </a:p>
          <a:p>
            <a:pPr algn="l" marL="0" indent="0" lvl="0">
              <a:lnSpc>
                <a:spcPts val="3553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6626729">
            <a:off x="11777200" y="2555938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0" y="0"/>
                </a:moveTo>
                <a:lnTo>
                  <a:pt x="12221289" y="0"/>
                </a:lnTo>
                <a:lnTo>
                  <a:pt x="12221289" y="8822969"/>
                </a:lnTo>
                <a:lnTo>
                  <a:pt x="0" y="882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1914697" y="732016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62880" y="8130249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85385" y="0"/>
            <a:ext cx="13980253" cy="10287000"/>
            <a:chOff x="0" y="0"/>
            <a:chExt cx="3347223" cy="2462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47223" cy="2462966"/>
            </a:xfrm>
            <a:custGeom>
              <a:avLst/>
              <a:gdLst/>
              <a:ahLst/>
              <a:cxnLst/>
              <a:rect r="r" b="b" t="t" l="l"/>
              <a:pathLst>
                <a:path h="2462966" w="3347223">
                  <a:moveTo>
                    <a:pt x="11076" y="0"/>
                  </a:moveTo>
                  <a:lnTo>
                    <a:pt x="3336148" y="0"/>
                  </a:lnTo>
                  <a:cubicBezTo>
                    <a:pt x="3342265" y="0"/>
                    <a:pt x="3347223" y="4959"/>
                    <a:pt x="3347223" y="11076"/>
                  </a:cubicBezTo>
                  <a:lnTo>
                    <a:pt x="3347223" y="2451890"/>
                  </a:lnTo>
                  <a:cubicBezTo>
                    <a:pt x="3347223" y="2458007"/>
                    <a:pt x="3342265" y="2462966"/>
                    <a:pt x="3336148" y="2462966"/>
                  </a:cubicBezTo>
                  <a:lnTo>
                    <a:pt x="11076" y="2462966"/>
                  </a:lnTo>
                  <a:cubicBezTo>
                    <a:pt x="4959" y="2462966"/>
                    <a:pt x="0" y="2458007"/>
                    <a:pt x="0" y="2451890"/>
                  </a:cubicBezTo>
                  <a:lnTo>
                    <a:pt x="0" y="11076"/>
                  </a:lnTo>
                  <a:cubicBezTo>
                    <a:pt x="0" y="4959"/>
                    <a:pt x="4959" y="0"/>
                    <a:pt x="11076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47223" cy="2501066"/>
            </a:xfrm>
            <a:prstGeom prst="rect">
              <a:avLst/>
            </a:prstGeom>
          </p:spPr>
          <p:txBody>
            <a:bodyPr anchor="ctr" rtlCol="false" tIns="55881" lIns="55881" bIns="55881" rIns="5588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992600" y="-1534850"/>
            <a:ext cx="6262780" cy="15773061"/>
            <a:chOff x="0" y="0"/>
            <a:chExt cx="8350373" cy="21030749"/>
          </a:xfrm>
        </p:grpSpPr>
        <p:sp>
          <p:nvSpPr>
            <p:cNvPr name="AutoShape 9" id="9"/>
            <p:cNvSpPr/>
            <p:nvPr/>
          </p:nvSpPr>
          <p:spPr>
            <a:xfrm flipV="true">
              <a:off x="584048" y="0"/>
              <a:ext cx="0" cy="21030749"/>
            </a:xfrm>
            <a:prstGeom prst="line">
              <a:avLst/>
            </a:prstGeom>
            <a:ln cap="flat" w="25400">
              <a:solidFill>
                <a:srgbClr val="F4F4ED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0" id="10"/>
            <p:cNvGrpSpPr/>
            <p:nvPr/>
          </p:nvGrpSpPr>
          <p:grpSpPr>
            <a:xfrm rot="-5400000">
              <a:off x="320891" y="12791667"/>
              <a:ext cx="526312" cy="1168095"/>
              <a:chOff x="0" y="0"/>
              <a:chExt cx="812800" cy="180392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1803925"/>
              </a:xfrm>
              <a:custGeom>
                <a:avLst/>
                <a:gdLst/>
                <a:ahLst/>
                <a:cxnLst/>
                <a:rect r="r" b="b" t="t" l="l"/>
                <a:pathLst>
                  <a:path h="1803925" w="812800">
                    <a:moveTo>
                      <a:pt x="406400" y="0"/>
                    </a:moveTo>
                    <a:lnTo>
                      <a:pt x="535715" y="614961"/>
                    </a:lnTo>
                    <a:lnTo>
                      <a:pt x="812800" y="901962"/>
                    </a:lnTo>
                    <a:lnTo>
                      <a:pt x="535715" y="1188964"/>
                    </a:lnTo>
                    <a:lnTo>
                      <a:pt x="406400" y="1803925"/>
                    </a:lnTo>
                    <a:lnTo>
                      <a:pt x="277085" y="1188964"/>
                    </a:lnTo>
                    <a:lnTo>
                      <a:pt x="0" y="901962"/>
                    </a:lnTo>
                    <a:lnTo>
                      <a:pt x="277085" y="61496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90500" y="460895"/>
                <a:ext cx="431800" cy="920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320891" y="9077704"/>
              <a:ext cx="526312" cy="1168095"/>
              <a:chOff x="0" y="0"/>
              <a:chExt cx="812800" cy="180392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1803925"/>
              </a:xfrm>
              <a:custGeom>
                <a:avLst/>
                <a:gdLst/>
                <a:ahLst/>
                <a:cxnLst/>
                <a:rect r="r" b="b" t="t" l="l"/>
                <a:pathLst>
                  <a:path h="1803925" w="812800">
                    <a:moveTo>
                      <a:pt x="406400" y="0"/>
                    </a:moveTo>
                    <a:lnTo>
                      <a:pt x="535715" y="614961"/>
                    </a:lnTo>
                    <a:lnTo>
                      <a:pt x="812800" y="901962"/>
                    </a:lnTo>
                    <a:lnTo>
                      <a:pt x="535715" y="1188964"/>
                    </a:lnTo>
                    <a:lnTo>
                      <a:pt x="406400" y="1803925"/>
                    </a:lnTo>
                    <a:lnTo>
                      <a:pt x="277085" y="1188964"/>
                    </a:lnTo>
                    <a:lnTo>
                      <a:pt x="0" y="901962"/>
                    </a:lnTo>
                    <a:lnTo>
                      <a:pt x="277085" y="61496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90500" y="460895"/>
                <a:ext cx="431800" cy="920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5400000">
              <a:off x="320891" y="5210597"/>
              <a:ext cx="526312" cy="1168095"/>
              <a:chOff x="0" y="0"/>
              <a:chExt cx="812800" cy="180392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1803925"/>
              </a:xfrm>
              <a:custGeom>
                <a:avLst/>
                <a:gdLst/>
                <a:ahLst/>
                <a:cxnLst/>
                <a:rect r="r" b="b" t="t" l="l"/>
                <a:pathLst>
                  <a:path h="1803925" w="812800">
                    <a:moveTo>
                      <a:pt x="406400" y="0"/>
                    </a:moveTo>
                    <a:lnTo>
                      <a:pt x="535715" y="614961"/>
                    </a:lnTo>
                    <a:lnTo>
                      <a:pt x="812800" y="901962"/>
                    </a:lnTo>
                    <a:lnTo>
                      <a:pt x="535715" y="1188964"/>
                    </a:lnTo>
                    <a:lnTo>
                      <a:pt x="406400" y="1803925"/>
                    </a:lnTo>
                    <a:lnTo>
                      <a:pt x="277085" y="1188964"/>
                    </a:lnTo>
                    <a:lnTo>
                      <a:pt x="0" y="901962"/>
                    </a:lnTo>
                    <a:lnTo>
                      <a:pt x="277085" y="61496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90500" y="460895"/>
                <a:ext cx="431800" cy="920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848066" y="5368330"/>
              <a:ext cx="6502307" cy="1794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</a:p>
            <a:p>
              <a:pPr algn="l">
                <a:lnSpc>
                  <a:spcPts val="515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485385" y="200025"/>
            <a:ext cx="7374890" cy="130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3"/>
              </a:lnSpc>
            </a:pPr>
            <a:r>
              <a:rPr lang="en-US" sz="9900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Dharambir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95948" y="1864291"/>
            <a:ext cx="10946094" cy="448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6544" indent="-473272" lvl="1">
              <a:lnSpc>
                <a:spcPts val="5918"/>
              </a:lnSpc>
              <a:buFont typeface="Arial"/>
              <a:buChar char="•"/>
            </a:pPr>
            <a:r>
              <a:rPr lang="en-US" sz="4384" spc="263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Bu</a:t>
            </a:r>
            <a:r>
              <a:rPr lang="en-US" sz="4384" spc="263" u="none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ilt the interface to add, remove, and update shopping cart items.</a:t>
            </a:r>
          </a:p>
          <a:p>
            <a:pPr algn="l" marL="946544" indent="-473272" lvl="1">
              <a:lnSpc>
                <a:spcPts val="5918"/>
              </a:lnSpc>
              <a:buFont typeface="Arial"/>
              <a:buChar char="•"/>
            </a:pPr>
            <a:r>
              <a:rPr lang="en-US" sz="4384" spc="263" u="none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Integrated the checkout process with the transaction storage system.</a:t>
            </a:r>
          </a:p>
          <a:p>
            <a:pPr algn="l">
              <a:lnSpc>
                <a:spcPts val="591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1914697" y="732016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62880" y="8130249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282091" y="-611255"/>
            <a:ext cx="14019776" cy="11132208"/>
            <a:chOff x="0" y="0"/>
            <a:chExt cx="18693034" cy="1484294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8693034" cy="14842944"/>
              <a:chOff x="0" y="0"/>
              <a:chExt cx="2129666" cy="16910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29666" cy="1691031"/>
              </a:xfrm>
              <a:custGeom>
                <a:avLst/>
                <a:gdLst/>
                <a:ahLst/>
                <a:cxnLst/>
                <a:rect r="r" b="b" t="t" l="l"/>
                <a:pathLst>
                  <a:path h="1691031" w="2129666">
                    <a:moveTo>
                      <a:pt x="19149" y="0"/>
                    </a:moveTo>
                    <a:lnTo>
                      <a:pt x="2110517" y="0"/>
                    </a:lnTo>
                    <a:cubicBezTo>
                      <a:pt x="2115595" y="0"/>
                      <a:pt x="2120466" y="2017"/>
                      <a:pt x="2124057" y="5609"/>
                    </a:cubicBezTo>
                    <a:cubicBezTo>
                      <a:pt x="2127648" y="9200"/>
                      <a:pt x="2129666" y="14070"/>
                      <a:pt x="2129666" y="19149"/>
                    </a:cubicBezTo>
                    <a:lnTo>
                      <a:pt x="2129666" y="1671883"/>
                    </a:lnTo>
                    <a:cubicBezTo>
                      <a:pt x="2129666" y="1676961"/>
                      <a:pt x="2127648" y="1681832"/>
                      <a:pt x="2124057" y="1685423"/>
                    </a:cubicBezTo>
                    <a:cubicBezTo>
                      <a:pt x="2120466" y="1689014"/>
                      <a:pt x="2115595" y="1691031"/>
                      <a:pt x="2110517" y="1691031"/>
                    </a:cubicBezTo>
                    <a:lnTo>
                      <a:pt x="19149" y="1691031"/>
                    </a:lnTo>
                    <a:cubicBezTo>
                      <a:pt x="14070" y="1691031"/>
                      <a:pt x="9200" y="1689014"/>
                      <a:pt x="5609" y="1685423"/>
                    </a:cubicBezTo>
                    <a:cubicBezTo>
                      <a:pt x="2017" y="1681832"/>
                      <a:pt x="0" y="1676961"/>
                      <a:pt x="0" y="1671883"/>
                    </a:cubicBezTo>
                    <a:lnTo>
                      <a:pt x="0" y="19149"/>
                    </a:lnTo>
                    <a:cubicBezTo>
                      <a:pt x="0" y="14070"/>
                      <a:pt x="2017" y="9200"/>
                      <a:pt x="5609" y="5609"/>
                    </a:cubicBezTo>
                    <a:cubicBezTo>
                      <a:pt x="9200" y="2017"/>
                      <a:pt x="14070" y="0"/>
                      <a:pt x="19149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129666" cy="17291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329338" y="1927952"/>
              <a:ext cx="15498640" cy="28381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136"/>
                </a:lnSpc>
              </a:pPr>
              <a:r>
                <a:rPr lang="en-US" sz="15604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Uzoma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502471" y="5593180"/>
              <a:ext cx="14009857" cy="76463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08608" indent="-454304" lvl="1">
                <a:lnSpc>
                  <a:spcPts val="5681"/>
                </a:lnSpc>
                <a:buFont typeface="Arial"/>
                <a:buChar char="•"/>
              </a:pPr>
              <a:r>
                <a:rPr lang="en-US" sz="4208" spc="252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Modified the previous Walmart shopping cart program to save all completed transactions in a structured file (CSV/TXT).</a:t>
              </a:r>
            </a:p>
            <a:p>
              <a:pPr algn="l" marL="908608" indent="-454304" lvl="1">
                <a:lnSpc>
                  <a:spcPts val="5681"/>
                </a:lnSpc>
                <a:buFont typeface="Arial"/>
                <a:buChar char="•"/>
              </a:pPr>
              <a:r>
                <a:rPr lang="en-US" sz="4208" spc="252" u="none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Ensured proper file formatting and easy data retrieval for future analysis.</a:t>
              </a:r>
            </a:p>
            <a:p>
              <a:pPr algn="l" marL="908608" indent="-454304" lvl="1">
                <a:lnSpc>
                  <a:spcPts val="5681"/>
                </a:lnSpc>
                <a:buFont typeface="Arial"/>
                <a:buChar char="•"/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259300" y="4026945"/>
            <a:ext cx="6262780" cy="6260055"/>
            <a:chOff x="0" y="0"/>
            <a:chExt cx="8350373" cy="8346741"/>
          </a:xfrm>
        </p:grpSpPr>
        <p:grpSp>
          <p:nvGrpSpPr>
            <p:cNvPr name="Group 12" id="12"/>
            <p:cNvGrpSpPr/>
            <p:nvPr/>
          </p:nvGrpSpPr>
          <p:grpSpPr>
            <a:xfrm rot="-5400000">
              <a:off x="320891" y="7499537"/>
              <a:ext cx="526312" cy="1168095"/>
              <a:chOff x="0" y="0"/>
              <a:chExt cx="812800" cy="180392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1803925"/>
              </a:xfrm>
              <a:custGeom>
                <a:avLst/>
                <a:gdLst/>
                <a:ahLst/>
                <a:cxnLst/>
                <a:rect r="r" b="b" t="t" l="l"/>
                <a:pathLst>
                  <a:path h="1803925" w="812800">
                    <a:moveTo>
                      <a:pt x="406400" y="0"/>
                    </a:moveTo>
                    <a:lnTo>
                      <a:pt x="535715" y="614961"/>
                    </a:lnTo>
                    <a:lnTo>
                      <a:pt x="812800" y="901962"/>
                    </a:lnTo>
                    <a:lnTo>
                      <a:pt x="535715" y="1188964"/>
                    </a:lnTo>
                    <a:lnTo>
                      <a:pt x="406400" y="1803925"/>
                    </a:lnTo>
                    <a:lnTo>
                      <a:pt x="277085" y="1188964"/>
                    </a:lnTo>
                    <a:lnTo>
                      <a:pt x="0" y="901962"/>
                    </a:lnTo>
                    <a:lnTo>
                      <a:pt x="277085" y="61496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90500" y="460895"/>
                <a:ext cx="431800" cy="920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5400000">
              <a:off x="320891" y="3785573"/>
              <a:ext cx="526312" cy="1168095"/>
              <a:chOff x="0" y="0"/>
              <a:chExt cx="812800" cy="180392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1803925"/>
              </a:xfrm>
              <a:custGeom>
                <a:avLst/>
                <a:gdLst/>
                <a:ahLst/>
                <a:cxnLst/>
                <a:rect r="r" b="b" t="t" l="l"/>
                <a:pathLst>
                  <a:path h="1803925" w="812800">
                    <a:moveTo>
                      <a:pt x="406400" y="0"/>
                    </a:moveTo>
                    <a:lnTo>
                      <a:pt x="535715" y="614961"/>
                    </a:lnTo>
                    <a:lnTo>
                      <a:pt x="812800" y="901962"/>
                    </a:lnTo>
                    <a:lnTo>
                      <a:pt x="535715" y="1188964"/>
                    </a:lnTo>
                    <a:lnTo>
                      <a:pt x="406400" y="1803925"/>
                    </a:lnTo>
                    <a:lnTo>
                      <a:pt x="277085" y="1188964"/>
                    </a:lnTo>
                    <a:lnTo>
                      <a:pt x="0" y="901962"/>
                    </a:lnTo>
                    <a:lnTo>
                      <a:pt x="277085" y="61496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90500" y="460895"/>
                <a:ext cx="431800" cy="920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5400000">
              <a:off x="320891" y="-81533"/>
              <a:ext cx="526312" cy="1168095"/>
              <a:chOff x="0" y="0"/>
              <a:chExt cx="812800" cy="18039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1803925"/>
              </a:xfrm>
              <a:custGeom>
                <a:avLst/>
                <a:gdLst/>
                <a:ahLst/>
                <a:cxnLst/>
                <a:rect r="r" b="b" t="t" l="l"/>
                <a:pathLst>
                  <a:path h="1803925" w="812800">
                    <a:moveTo>
                      <a:pt x="406400" y="0"/>
                    </a:moveTo>
                    <a:lnTo>
                      <a:pt x="535715" y="614961"/>
                    </a:lnTo>
                    <a:lnTo>
                      <a:pt x="812800" y="901962"/>
                    </a:lnTo>
                    <a:lnTo>
                      <a:pt x="535715" y="1188964"/>
                    </a:lnTo>
                    <a:lnTo>
                      <a:pt x="406400" y="1803925"/>
                    </a:lnTo>
                    <a:lnTo>
                      <a:pt x="277085" y="1188964"/>
                    </a:lnTo>
                    <a:lnTo>
                      <a:pt x="0" y="901962"/>
                    </a:lnTo>
                    <a:lnTo>
                      <a:pt x="277085" y="614961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90500" y="460895"/>
                <a:ext cx="431800" cy="9202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848066" y="76200"/>
              <a:ext cx="6502307" cy="1794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</a:p>
            <a:p>
              <a:pPr algn="l">
                <a:lnSpc>
                  <a:spcPts val="515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1914697" y="732016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62880" y="8130249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65920" y="-994844"/>
            <a:ext cx="17926427" cy="12164872"/>
            <a:chOff x="0" y="0"/>
            <a:chExt cx="23901903" cy="1621983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3901903" cy="16219830"/>
              <a:chOff x="0" y="0"/>
              <a:chExt cx="2129666" cy="144519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29666" cy="1445191"/>
              </a:xfrm>
              <a:custGeom>
                <a:avLst/>
                <a:gdLst/>
                <a:ahLst/>
                <a:cxnLst/>
                <a:rect r="r" b="b" t="t" l="l"/>
                <a:pathLst>
                  <a:path h="1445191" w="2129666">
                    <a:moveTo>
                      <a:pt x="19149" y="0"/>
                    </a:moveTo>
                    <a:lnTo>
                      <a:pt x="2110517" y="0"/>
                    </a:lnTo>
                    <a:cubicBezTo>
                      <a:pt x="2115595" y="0"/>
                      <a:pt x="2120466" y="2017"/>
                      <a:pt x="2124057" y="5609"/>
                    </a:cubicBezTo>
                    <a:cubicBezTo>
                      <a:pt x="2127648" y="9200"/>
                      <a:pt x="2129666" y="14070"/>
                      <a:pt x="2129666" y="19149"/>
                    </a:cubicBezTo>
                    <a:lnTo>
                      <a:pt x="2129666" y="1426042"/>
                    </a:lnTo>
                    <a:cubicBezTo>
                      <a:pt x="2129666" y="1431121"/>
                      <a:pt x="2127648" y="1435991"/>
                      <a:pt x="2124057" y="1439582"/>
                    </a:cubicBezTo>
                    <a:cubicBezTo>
                      <a:pt x="2120466" y="1443174"/>
                      <a:pt x="2115595" y="1445191"/>
                      <a:pt x="2110517" y="1445191"/>
                    </a:cubicBezTo>
                    <a:lnTo>
                      <a:pt x="19149" y="1445191"/>
                    </a:lnTo>
                    <a:cubicBezTo>
                      <a:pt x="14070" y="1445191"/>
                      <a:pt x="9200" y="1443174"/>
                      <a:pt x="5609" y="1439582"/>
                    </a:cubicBezTo>
                    <a:cubicBezTo>
                      <a:pt x="2017" y="1435991"/>
                      <a:pt x="0" y="1431121"/>
                      <a:pt x="0" y="1426042"/>
                    </a:cubicBezTo>
                    <a:lnTo>
                      <a:pt x="0" y="19149"/>
                    </a:lnTo>
                    <a:cubicBezTo>
                      <a:pt x="0" y="14070"/>
                      <a:pt x="2017" y="9200"/>
                      <a:pt x="5609" y="5609"/>
                    </a:cubicBezTo>
                    <a:cubicBezTo>
                      <a:pt x="9200" y="2017"/>
                      <a:pt x="14070" y="0"/>
                      <a:pt x="19149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129666" cy="14832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699762" y="2479715"/>
              <a:ext cx="19817381" cy="36144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53"/>
                </a:lnSpc>
              </a:pPr>
              <a:r>
                <a:rPr lang="en-US" sz="19952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Kelvin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921139" y="7160791"/>
              <a:ext cx="17913745" cy="70088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118284" indent="-559142" lvl="1">
                <a:lnSpc>
                  <a:spcPts val="6992"/>
                </a:lnSpc>
                <a:buFont typeface="Arial"/>
                <a:buChar char="•"/>
              </a:pPr>
              <a:r>
                <a:rPr lang="en-US" sz="5179" spc="310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Created the screen</a:t>
              </a:r>
              <a:r>
                <a:rPr lang="en-US" sz="5179" spc="310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 to view past transactions and display receipts.</a:t>
              </a:r>
            </a:p>
            <a:p>
              <a:pPr algn="l" marL="1118284" indent="-559142" lvl="1">
                <a:lnSpc>
                  <a:spcPts val="6992"/>
                </a:lnSpc>
                <a:buFont typeface="Arial"/>
                <a:buChar char="•"/>
              </a:pPr>
              <a:r>
                <a:rPr lang="en-US" sz="5179" spc="310">
                  <a:solidFill>
                    <a:srgbClr val="F4F4ED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Handled layout design, user interaction flow, and testing of all GUI components.</a:t>
              </a:r>
            </a:p>
            <a:p>
              <a:pPr algn="l">
                <a:lnSpc>
                  <a:spcPts val="6992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31527" y="-797681"/>
            <a:ext cx="10284037" cy="6854282"/>
            <a:chOff x="0" y="0"/>
            <a:chExt cx="13712050" cy="913904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3712050" cy="9139043"/>
              <a:chOff x="0" y="0"/>
              <a:chExt cx="2708553" cy="180524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708553" cy="1805243"/>
              </a:xfrm>
              <a:custGeom>
                <a:avLst/>
                <a:gdLst/>
                <a:ahLst/>
                <a:cxnLst/>
                <a:rect r="r" b="b" t="t" l="l"/>
                <a:pathLst>
                  <a:path h="1805243" w="2708553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1790187"/>
                    </a:lnTo>
                    <a:cubicBezTo>
                      <a:pt x="2708553" y="1794180"/>
                      <a:pt x="2706967" y="1798010"/>
                      <a:pt x="2704143" y="1800833"/>
                    </a:cubicBezTo>
                    <a:cubicBezTo>
                      <a:pt x="2701320" y="1803657"/>
                      <a:pt x="2697490" y="1805243"/>
                      <a:pt x="2693497" y="1805243"/>
                    </a:cubicBezTo>
                    <a:lnTo>
                      <a:pt x="15056" y="1805243"/>
                    </a:lnTo>
                    <a:cubicBezTo>
                      <a:pt x="11063" y="1805243"/>
                      <a:pt x="7233" y="1803657"/>
                      <a:pt x="4410" y="1800833"/>
                    </a:cubicBezTo>
                    <a:cubicBezTo>
                      <a:pt x="1586" y="1798010"/>
                      <a:pt x="0" y="1794180"/>
                      <a:pt x="0" y="1790187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708553" cy="18433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196340" y="1307149"/>
              <a:ext cx="11319371" cy="11866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05"/>
                </a:lnSpc>
              </a:pPr>
              <a:r>
                <a:rPr lang="en-US" sz="65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Challenges Faced: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323340" y="2834128"/>
              <a:ext cx="10276762" cy="5046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5" indent="-302257" lvl="1">
                <a:lnSpc>
                  <a:spcPts val="3779"/>
                </a:lnSpc>
                <a:buFont typeface="Arial"/>
                <a:buChar char="•"/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File overwriting and inconsistent f</a:t>
              </a: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ormatting when saving transactions.</a:t>
              </a:r>
            </a:p>
            <a:p>
              <a:pPr algn="l" marL="604515" indent="-302257" lvl="1">
                <a:lnSpc>
                  <a:spcPts val="3779"/>
                </a:lnSpc>
                <a:buFont typeface="Arial"/>
                <a:buChar char="•"/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Difficulty syncing GUI actions with real-time file updates.</a:t>
              </a:r>
            </a:p>
            <a:p>
              <a:pPr algn="l" marL="604515" indent="-302257" lvl="1">
                <a:lnSpc>
                  <a:spcPts val="3779"/>
                </a:lnSpc>
                <a:buFont typeface="Arial"/>
                <a:buChar char="•"/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Invalid or missing user inputs causing errors in the interface.</a:t>
              </a:r>
            </a:p>
            <a:p>
              <a:pPr algn="l" marL="604515" indent="-302257" lvl="1">
                <a:lnSpc>
                  <a:spcPts val="37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spc="167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GUI layout not scaling well across different screen sizes.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593955" y="7858776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1" y="0"/>
                </a:lnTo>
                <a:lnTo>
                  <a:pt x="896421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1542318">
            <a:off x="11968542" y="-103561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852510" y="2629460"/>
            <a:ext cx="9998741" cy="8632970"/>
            <a:chOff x="0" y="0"/>
            <a:chExt cx="13331654" cy="1151062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3331654" cy="11510627"/>
              <a:chOff x="0" y="0"/>
              <a:chExt cx="2708553" cy="23385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708553" cy="2338580"/>
              </a:xfrm>
              <a:custGeom>
                <a:avLst/>
                <a:gdLst/>
                <a:ahLst/>
                <a:cxnLst/>
                <a:rect r="r" b="b" t="t" l="l"/>
                <a:pathLst>
                  <a:path h="2338580" w="2708553">
                    <a:moveTo>
                      <a:pt x="15056" y="0"/>
                    </a:moveTo>
                    <a:lnTo>
                      <a:pt x="2693497" y="0"/>
                    </a:lnTo>
                    <a:cubicBezTo>
                      <a:pt x="2701812" y="0"/>
                      <a:pt x="2708553" y="6741"/>
                      <a:pt x="2708553" y="15056"/>
                    </a:cubicBezTo>
                    <a:lnTo>
                      <a:pt x="2708553" y="2323524"/>
                    </a:lnTo>
                    <a:cubicBezTo>
                      <a:pt x="2708553" y="2327517"/>
                      <a:pt x="2706967" y="2331347"/>
                      <a:pt x="2704143" y="2334171"/>
                    </a:cubicBezTo>
                    <a:cubicBezTo>
                      <a:pt x="2701320" y="2336994"/>
                      <a:pt x="2697490" y="2338580"/>
                      <a:pt x="2693497" y="2338580"/>
                    </a:cubicBezTo>
                    <a:lnTo>
                      <a:pt x="15056" y="2338580"/>
                    </a:lnTo>
                    <a:cubicBezTo>
                      <a:pt x="11063" y="2338580"/>
                      <a:pt x="7233" y="2336994"/>
                      <a:pt x="4410" y="2334171"/>
                    </a:cubicBezTo>
                    <a:cubicBezTo>
                      <a:pt x="1586" y="2331347"/>
                      <a:pt x="0" y="2327517"/>
                      <a:pt x="0" y="2323524"/>
                    </a:cubicBezTo>
                    <a:lnTo>
                      <a:pt x="0" y="15056"/>
                    </a:lnTo>
                    <a:cubicBezTo>
                      <a:pt x="0" y="11063"/>
                      <a:pt x="1586" y="7233"/>
                      <a:pt x="4410" y="4410"/>
                    </a:cubicBezTo>
                    <a:cubicBezTo>
                      <a:pt x="7233" y="1586"/>
                      <a:pt x="11063" y="0"/>
                      <a:pt x="15056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708553" cy="23766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163151" y="1274586"/>
              <a:ext cx="11005352" cy="2187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30"/>
                </a:lnSpc>
              </a:pPr>
              <a:r>
                <a:rPr lang="en-US" sz="632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Technical Fixes for Challenges: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286628" y="3801178"/>
              <a:ext cx="9991667" cy="64864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24773" indent="-262386" lvl="1">
                <a:lnSpc>
                  <a:spcPts val="3281"/>
                </a:lnSpc>
                <a:buFont typeface="Arial"/>
                <a:buChar char="•"/>
              </a:pPr>
              <a:r>
                <a:rPr lang="en-US" sz="2430" spc="145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Used Python’s with open(..., mode) context manager and CSV module for safe appending and consistent file structure.</a:t>
              </a:r>
            </a:p>
            <a:p>
              <a:pPr algn="l" marL="524773" indent="-262386" lvl="1">
                <a:lnSpc>
                  <a:spcPts val="3281"/>
                </a:lnSpc>
                <a:buFont typeface="Arial"/>
                <a:buChar char="•"/>
              </a:pPr>
              <a:r>
                <a:rPr lang="en-US" sz="2430" spc="145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Creat</a:t>
              </a:r>
              <a:r>
                <a:rPr lang="en-US" sz="2430" spc="145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ed a dedicated checkout function to immediately write transactions to the file after each purchase.</a:t>
              </a:r>
            </a:p>
            <a:p>
              <a:pPr algn="l" marL="524773" indent="-262386" lvl="1">
                <a:lnSpc>
                  <a:spcPts val="3281"/>
                </a:lnSpc>
                <a:buFont typeface="Arial"/>
                <a:buChar char="•"/>
              </a:pPr>
              <a:r>
                <a:rPr lang="en-US" sz="2430" spc="145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Added input-validation checks and message boxes to prevent invalid entries.</a:t>
              </a:r>
            </a:p>
            <a:p>
              <a:pPr algn="l" marL="524773" indent="-262386" lvl="1">
                <a:lnSpc>
                  <a:spcPts val="328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30" spc="145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Applied Tkinter grid/pack geometry with flexible weights to improve layout responsiveness.</a:t>
              </a:r>
            </a:p>
            <a:p>
              <a:pPr algn="l">
                <a:lnSpc>
                  <a:spcPts val="328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6040" y="3337037"/>
            <a:ext cx="9245435" cy="3374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9"/>
              </a:lnSpc>
            </a:pPr>
            <a:r>
              <a:rPr lang="en-US" sz="1459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0435729">
            <a:off x="-3241105" y="-2477065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DAGyc1yMqKA</dc:identifier>
  <dcterms:modified xsi:type="dcterms:W3CDTF">2011-08-01T06:04:30Z</dcterms:modified>
  <cp:revision>1</cp:revision>
  <dc:title> DSA LAB II ASSIGNMENT</dc:title>
</cp:coreProperties>
</file>