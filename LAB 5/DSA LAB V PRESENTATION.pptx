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rchivo Black" charset="1" panose="020B0A03020202020B04"/>
      <p:regular r:id="rId13"/>
    </p:embeddedFont>
    <p:embeddedFont>
      <p:font typeface="Red Hat Display" charset="1" panose="02010503040201060303"/>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432404" y="2625595"/>
            <a:ext cx="14554173" cy="3200970"/>
          </a:xfrm>
          <a:prstGeom prst="rect">
            <a:avLst/>
          </a:prstGeom>
        </p:spPr>
        <p:txBody>
          <a:bodyPr anchor="t" rtlCol="false" tIns="0" lIns="0" bIns="0" rIns="0">
            <a:spAutoFit/>
          </a:bodyPr>
          <a:lstStyle/>
          <a:p>
            <a:pPr algn="l">
              <a:lnSpc>
                <a:spcPts val="12218"/>
              </a:lnSpc>
            </a:pPr>
            <a:r>
              <a:rPr lang="en-US" sz="12998">
                <a:solidFill>
                  <a:srgbClr val="FFFFFF"/>
                </a:solidFill>
                <a:latin typeface="Archivo Black"/>
                <a:ea typeface="Archivo Black"/>
                <a:cs typeface="Archivo Black"/>
                <a:sym typeface="Archivo Black"/>
              </a:rPr>
              <a:t>DSA LAB V PRESENTATION</a:t>
            </a:r>
          </a:p>
        </p:txBody>
      </p:sp>
      <p:sp>
        <p:nvSpPr>
          <p:cNvPr name="TextBox 4" id="4"/>
          <p:cNvSpPr txBox="true"/>
          <p:nvPr/>
        </p:nvSpPr>
        <p:spPr>
          <a:xfrm rot="0">
            <a:off x="432404" y="6168546"/>
            <a:ext cx="10835284" cy="746164"/>
          </a:xfrm>
          <a:prstGeom prst="rect">
            <a:avLst/>
          </a:prstGeom>
        </p:spPr>
        <p:txBody>
          <a:bodyPr anchor="t" rtlCol="false" tIns="0" lIns="0" bIns="0" rIns="0">
            <a:spAutoFit/>
          </a:bodyPr>
          <a:lstStyle/>
          <a:p>
            <a:pPr algn="l">
              <a:lnSpc>
                <a:spcPts val="6122"/>
              </a:lnSpc>
              <a:spcBef>
                <a:spcPct val="0"/>
              </a:spcBef>
            </a:pPr>
            <a:r>
              <a:rPr lang="en-US" sz="4373">
                <a:solidFill>
                  <a:srgbClr val="F4F4ED"/>
                </a:solidFill>
                <a:latin typeface="Red Hat Display"/>
                <a:ea typeface="Red Hat Display"/>
                <a:cs typeface="Red Hat Display"/>
                <a:sym typeface="Red Hat Display"/>
              </a:rPr>
              <a:t>Presented by Kelvin, Uzoma and Dharambir</a:t>
            </a:r>
          </a:p>
        </p:txBody>
      </p:sp>
      <p:sp>
        <p:nvSpPr>
          <p:cNvPr name="Freeform 5" id="5"/>
          <p:cNvSpPr/>
          <p:nvPr/>
        </p:nvSpPr>
        <p:spPr>
          <a:xfrm flipH="false" flipV="true" rot="-1542318">
            <a:off x="13654428" y="80032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0102" y="-96383"/>
            <a:ext cx="12099423" cy="2610953"/>
          </a:xfrm>
          <a:prstGeom prst="rect">
            <a:avLst/>
          </a:prstGeom>
        </p:spPr>
        <p:txBody>
          <a:bodyPr anchor="t" rtlCol="false" tIns="0" lIns="0" bIns="0" rIns="0">
            <a:spAutoFit/>
          </a:bodyPr>
          <a:lstStyle/>
          <a:p>
            <a:pPr algn="l">
              <a:lnSpc>
                <a:spcPts val="9991"/>
              </a:lnSpc>
            </a:pPr>
            <a:r>
              <a:rPr lang="en-US" sz="10300">
                <a:solidFill>
                  <a:srgbClr val="F4F4ED"/>
                </a:solidFill>
                <a:latin typeface="Archivo Black"/>
                <a:ea typeface="Archivo Black"/>
                <a:cs typeface="Archivo Black"/>
                <a:sym typeface="Archivo Black"/>
              </a:rPr>
              <a:t>Core Functionality</a:t>
            </a:r>
          </a:p>
        </p:txBody>
      </p:sp>
      <p:sp>
        <p:nvSpPr>
          <p:cNvPr name="TextBox 4" id="4"/>
          <p:cNvSpPr txBox="true"/>
          <p:nvPr/>
        </p:nvSpPr>
        <p:spPr>
          <a:xfrm rot="0">
            <a:off x="0" y="2681970"/>
            <a:ext cx="10946784" cy="8046103"/>
          </a:xfrm>
          <a:prstGeom prst="rect">
            <a:avLst/>
          </a:prstGeom>
        </p:spPr>
        <p:txBody>
          <a:bodyPr anchor="t" rtlCol="false" tIns="0" lIns="0" bIns="0" rIns="0">
            <a:spAutoFit/>
          </a:bodyPr>
          <a:lstStyle/>
          <a:p>
            <a:pPr algn="l">
              <a:lnSpc>
                <a:spcPts val="3553"/>
              </a:lnSpc>
            </a:pPr>
            <a:r>
              <a:rPr lang="en-US" sz="2632" spc="157">
                <a:solidFill>
                  <a:srgbClr val="FFFFFF"/>
                </a:solidFill>
                <a:latin typeface="Red Hat Display"/>
                <a:ea typeface="Red Hat Display"/>
                <a:cs typeface="Red Hat Display"/>
                <a:sym typeface="Red Hat Display"/>
              </a:rPr>
              <a:t>The University Course Registration System allows students to register for an account, view available courses, enroll in classes, and manage their schedules through an intuitive interface. The system uses Object-Oriented Programming to structure the logic:</a:t>
            </a:r>
          </a:p>
          <a:p>
            <a:pPr algn="l" marL="568337" indent="-284169" lvl="1">
              <a:lnSpc>
                <a:spcPts val="3553"/>
              </a:lnSpc>
              <a:buFont typeface="Arial"/>
              <a:buChar char="•"/>
            </a:pPr>
            <a:r>
              <a:rPr lang="en-US" sz="2632" spc="157">
                <a:solidFill>
                  <a:srgbClr val="FFFFFF"/>
                </a:solidFill>
                <a:latin typeface="Red Hat Display"/>
                <a:ea typeface="Red Hat Display"/>
                <a:cs typeface="Red Hat Display"/>
                <a:sym typeface="Red Hat Display"/>
              </a:rPr>
              <a:t>Student Class: Stores student information and their registered courses.</a:t>
            </a:r>
          </a:p>
          <a:p>
            <a:pPr algn="l" marL="568337" indent="-284169" lvl="1">
              <a:lnSpc>
                <a:spcPts val="3553"/>
              </a:lnSpc>
              <a:buFont typeface="Arial"/>
              <a:buChar char="•"/>
            </a:pPr>
            <a:r>
              <a:rPr lang="en-US" sz="2632" spc="157">
                <a:solidFill>
                  <a:srgbClr val="FFFFFF"/>
                </a:solidFill>
                <a:latin typeface="Red Hat Display"/>
                <a:ea typeface="Red Hat Display"/>
                <a:cs typeface="Red Hat Display"/>
                <a:sym typeface="Red Hat Display"/>
              </a:rPr>
              <a:t>Course Class: Manages course details, capacity, schedule, and enrolled students.</a:t>
            </a:r>
          </a:p>
          <a:p>
            <a:pPr algn="l" marL="568337" indent="-284169" lvl="1">
              <a:lnSpc>
                <a:spcPts val="3553"/>
              </a:lnSpc>
              <a:buFont typeface="Arial"/>
              <a:buChar char="•"/>
            </a:pPr>
            <a:r>
              <a:rPr lang="en-US" sz="2632" spc="157">
                <a:solidFill>
                  <a:srgbClr val="FFFFFF"/>
                </a:solidFill>
                <a:latin typeface="Red Hat Display"/>
                <a:ea typeface="Red Hat Display"/>
                <a:cs typeface="Red Hat Display"/>
                <a:sym typeface="Red Hat Display"/>
              </a:rPr>
              <a:t>EnrollmentSystem Class: Handles registration, enrollment, dropping courses, credit limits, and schedule conflict detection.</a:t>
            </a:r>
          </a:p>
          <a:p>
            <a:pPr algn="l">
              <a:lnSpc>
                <a:spcPts val="3553"/>
              </a:lnSpc>
            </a:pPr>
          </a:p>
          <a:p>
            <a:pPr algn="l">
              <a:lnSpc>
                <a:spcPts val="3553"/>
              </a:lnSpc>
            </a:pPr>
            <a:r>
              <a:rPr lang="en-US" sz="2632" spc="157">
                <a:solidFill>
                  <a:srgbClr val="FFFFFF"/>
                </a:solidFill>
                <a:latin typeface="Red Hat Display"/>
                <a:ea typeface="Red Hat Display"/>
                <a:cs typeface="Red Hat Display"/>
                <a:sym typeface="Red Hat Display"/>
              </a:rPr>
              <a:t>All data is stored persistently using CSV files, ensuring that student and course records remain available between sessions. The GUI built with tkinter connects directly with the logic layer, providing real-time updates and user feedback.</a:t>
            </a:r>
          </a:p>
          <a:p>
            <a:pPr algn="l">
              <a:lnSpc>
                <a:spcPts val="3553"/>
              </a:lnSpc>
            </a:pPr>
          </a:p>
        </p:txBody>
      </p:sp>
      <p:sp>
        <p:nvSpPr>
          <p:cNvPr name="Freeform 5" id="5"/>
          <p:cNvSpPr/>
          <p:nvPr/>
        </p:nvSpPr>
        <p:spPr>
          <a:xfrm flipH="false" flipV="false" rot="6626729">
            <a:off x="11777200" y="2555938"/>
            <a:ext cx="12221289" cy="8822969"/>
          </a:xfrm>
          <a:custGeom>
            <a:avLst/>
            <a:gdLst/>
            <a:ahLst/>
            <a:cxnLst/>
            <a:rect r="r" b="b" t="t" l="l"/>
            <a:pathLst>
              <a:path h="8822969" w="12221289">
                <a:moveTo>
                  <a:pt x="0" y="0"/>
                </a:moveTo>
                <a:lnTo>
                  <a:pt x="12221289" y="0"/>
                </a:lnTo>
                <a:lnTo>
                  <a:pt x="12221289" y="8822969"/>
                </a:lnTo>
                <a:lnTo>
                  <a:pt x="0" y="8822969"/>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1914697" y="732016"/>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4" id="4"/>
          <p:cNvSpPr/>
          <p:nvPr/>
        </p:nvSpPr>
        <p:spPr>
          <a:xfrm flipH="false" flipV="false" rot="0">
            <a:off x="16362880" y="8130249"/>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924712" y="0"/>
            <a:ext cx="13980253" cy="10287000"/>
            <a:chOff x="0" y="0"/>
            <a:chExt cx="3347223" cy="2462966"/>
          </a:xfrm>
        </p:grpSpPr>
        <p:sp>
          <p:nvSpPr>
            <p:cNvPr name="Freeform 6" id="6"/>
            <p:cNvSpPr/>
            <p:nvPr/>
          </p:nvSpPr>
          <p:spPr>
            <a:xfrm flipH="false" flipV="false" rot="0">
              <a:off x="0" y="0"/>
              <a:ext cx="3347223" cy="2462966"/>
            </a:xfrm>
            <a:custGeom>
              <a:avLst/>
              <a:gdLst/>
              <a:ahLst/>
              <a:cxnLst/>
              <a:rect r="r" b="b" t="t" l="l"/>
              <a:pathLst>
                <a:path h="2462966" w="3347223">
                  <a:moveTo>
                    <a:pt x="11076" y="0"/>
                  </a:moveTo>
                  <a:lnTo>
                    <a:pt x="3336148" y="0"/>
                  </a:lnTo>
                  <a:cubicBezTo>
                    <a:pt x="3342265" y="0"/>
                    <a:pt x="3347223" y="4959"/>
                    <a:pt x="3347223" y="11076"/>
                  </a:cubicBezTo>
                  <a:lnTo>
                    <a:pt x="3347223" y="2451890"/>
                  </a:lnTo>
                  <a:cubicBezTo>
                    <a:pt x="3347223" y="2458007"/>
                    <a:pt x="3342265" y="2462966"/>
                    <a:pt x="3336148" y="2462966"/>
                  </a:cubicBezTo>
                  <a:lnTo>
                    <a:pt x="11076" y="2462966"/>
                  </a:lnTo>
                  <a:cubicBezTo>
                    <a:pt x="4959" y="2462966"/>
                    <a:pt x="0" y="2458007"/>
                    <a:pt x="0" y="2451890"/>
                  </a:cubicBezTo>
                  <a:lnTo>
                    <a:pt x="0" y="11076"/>
                  </a:lnTo>
                  <a:cubicBezTo>
                    <a:pt x="0" y="4959"/>
                    <a:pt x="4959" y="0"/>
                    <a:pt x="11076"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3347223" cy="2501066"/>
            </a:xfrm>
            <a:prstGeom prst="rect">
              <a:avLst/>
            </a:prstGeom>
          </p:spPr>
          <p:txBody>
            <a:bodyPr anchor="ctr" rtlCol="false" tIns="55881" lIns="55881" bIns="55881" rIns="55881"/>
            <a:lstStyle/>
            <a:p>
              <a:pPr algn="ctr">
                <a:lnSpc>
                  <a:spcPts val="2659"/>
                </a:lnSpc>
              </a:pPr>
            </a:p>
          </p:txBody>
        </p:sp>
      </p:grpSp>
      <p:grpSp>
        <p:nvGrpSpPr>
          <p:cNvPr name="Group 8" id="8"/>
          <p:cNvGrpSpPr/>
          <p:nvPr/>
        </p:nvGrpSpPr>
        <p:grpSpPr>
          <a:xfrm rot="0">
            <a:off x="16992600" y="-1534850"/>
            <a:ext cx="6262780" cy="15773061"/>
            <a:chOff x="0" y="0"/>
            <a:chExt cx="8350373" cy="21030749"/>
          </a:xfrm>
        </p:grpSpPr>
        <p:sp>
          <p:nvSpPr>
            <p:cNvPr name="AutoShape 9" id="9"/>
            <p:cNvSpPr/>
            <p:nvPr/>
          </p:nvSpPr>
          <p:spPr>
            <a:xfrm flipV="true">
              <a:off x="584048" y="0"/>
              <a:ext cx="0" cy="21030749"/>
            </a:xfrm>
            <a:prstGeom prst="line">
              <a:avLst/>
            </a:prstGeom>
            <a:ln cap="flat" w="25400">
              <a:solidFill>
                <a:srgbClr val="F4F4ED"/>
              </a:solidFill>
              <a:prstDash val="solid"/>
              <a:headEnd type="none" len="sm" w="sm"/>
              <a:tailEnd type="none" len="sm" w="sm"/>
            </a:ln>
          </p:spPr>
        </p:sp>
        <p:grpSp>
          <p:nvGrpSpPr>
            <p:cNvPr name="Group 10" id="10"/>
            <p:cNvGrpSpPr/>
            <p:nvPr/>
          </p:nvGrpSpPr>
          <p:grpSpPr>
            <a:xfrm rot="-5400000">
              <a:off x="320891" y="12791667"/>
              <a:ext cx="526312" cy="1168095"/>
              <a:chOff x="0" y="0"/>
              <a:chExt cx="812800" cy="1803925"/>
            </a:xfrm>
          </p:grpSpPr>
          <p:sp>
            <p:nvSpPr>
              <p:cNvPr name="Freeform 11" id="11"/>
              <p:cNvSpPr/>
              <p:nvPr/>
            </p:nvSpPr>
            <p:spPr>
              <a:xfrm flipH="false" flipV="false" rot="0">
                <a:off x="0" y="0"/>
                <a:ext cx="812800" cy="1803925"/>
              </a:xfrm>
              <a:custGeom>
                <a:avLst/>
                <a:gdLst/>
                <a:ahLst/>
                <a:cxnLst/>
                <a:rect r="r" b="b" t="t" l="l"/>
                <a:pathLst>
                  <a:path h="1803925" w="812800">
                    <a:moveTo>
                      <a:pt x="406400" y="0"/>
                    </a:moveTo>
                    <a:lnTo>
                      <a:pt x="535715" y="614961"/>
                    </a:lnTo>
                    <a:lnTo>
                      <a:pt x="812800" y="901962"/>
                    </a:lnTo>
                    <a:lnTo>
                      <a:pt x="535715" y="1188964"/>
                    </a:lnTo>
                    <a:lnTo>
                      <a:pt x="406400" y="1803925"/>
                    </a:lnTo>
                    <a:lnTo>
                      <a:pt x="277085" y="1188964"/>
                    </a:lnTo>
                    <a:lnTo>
                      <a:pt x="0" y="901962"/>
                    </a:lnTo>
                    <a:lnTo>
                      <a:pt x="277085" y="614961"/>
                    </a:lnTo>
                    <a:lnTo>
                      <a:pt x="406400" y="0"/>
                    </a:lnTo>
                    <a:close/>
                  </a:path>
                </a:pathLst>
              </a:custGeom>
              <a:solidFill>
                <a:srgbClr val="FFFFFF"/>
              </a:solidFill>
              <a:ln cap="sq">
                <a:noFill/>
                <a:prstDash val="solid"/>
                <a:miter/>
              </a:ln>
            </p:spPr>
          </p:sp>
          <p:sp>
            <p:nvSpPr>
              <p:cNvPr name="TextBox 12" id="12"/>
              <p:cNvSpPr txBox="true"/>
              <p:nvPr/>
            </p:nvSpPr>
            <p:spPr>
              <a:xfrm>
                <a:off x="190500" y="460895"/>
                <a:ext cx="431800" cy="92023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3" id="13"/>
            <p:cNvGrpSpPr/>
            <p:nvPr/>
          </p:nvGrpSpPr>
          <p:grpSpPr>
            <a:xfrm rot="-5400000">
              <a:off x="320891" y="9077704"/>
              <a:ext cx="526312" cy="1168095"/>
              <a:chOff x="0" y="0"/>
              <a:chExt cx="812800" cy="1803925"/>
            </a:xfrm>
          </p:grpSpPr>
          <p:sp>
            <p:nvSpPr>
              <p:cNvPr name="Freeform 14" id="14"/>
              <p:cNvSpPr/>
              <p:nvPr/>
            </p:nvSpPr>
            <p:spPr>
              <a:xfrm flipH="false" flipV="false" rot="0">
                <a:off x="0" y="0"/>
                <a:ext cx="812800" cy="1803925"/>
              </a:xfrm>
              <a:custGeom>
                <a:avLst/>
                <a:gdLst/>
                <a:ahLst/>
                <a:cxnLst/>
                <a:rect r="r" b="b" t="t" l="l"/>
                <a:pathLst>
                  <a:path h="1803925" w="812800">
                    <a:moveTo>
                      <a:pt x="406400" y="0"/>
                    </a:moveTo>
                    <a:lnTo>
                      <a:pt x="535715" y="614961"/>
                    </a:lnTo>
                    <a:lnTo>
                      <a:pt x="812800" y="901962"/>
                    </a:lnTo>
                    <a:lnTo>
                      <a:pt x="535715" y="1188964"/>
                    </a:lnTo>
                    <a:lnTo>
                      <a:pt x="406400" y="1803925"/>
                    </a:lnTo>
                    <a:lnTo>
                      <a:pt x="277085" y="1188964"/>
                    </a:lnTo>
                    <a:lnTo>
                      <a:pt x="0" y="901962"/>
                    </a:lnTo>
                    <a:lnTo>
                      <a:pt x="277085" y="614961"/>
                    </a:lnTo>
                    <a:lnTo>
                      <a:pt x="406400" y="0"/>
                    </a:lnTo>
                    <a:close/>
                  </a:path>
                </a:pathLst>
              </a:custGeom>
              <a:solidFill>
                <a:srgbClr val="FFFFFF"/>
              </a:solidFill>
              <a:ln cap="sq">
                <a:noFill/>
                <a:prstDash val="solid"/>
                <a:miter/>
              </a:ln>
            </p:spPr>
          </p:sp>
          <p:sp>
            <p:nvSpPr>
              <p:cNvPr name="TextBox 15" id="15"/>
              <p:cNvSpPr txBox="true"/>
              <p:nvPr/>
            </p:nvSpPr>
            <p:spPr>
              <a:xfrm>
                <a:off x="190500" y="460895"/>
                <a:ext cx="431800" cy="92023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6" id="16"/>
            <p:cNvGrpSpPr/>
            <p:nvPr/>
          </p:nvGrpSpPr>
          <p:grpSpPr>
            <a:xfrm rot="-5400000">
              <a:off x="320891" y="5210597"/>
              <a:ext cx="526312" cy="1168095"/>
              <a:chOff x="0" y="0"/>
              <a:chExt cx="812800" cy="1803925"/>
            </a:xfrm>
          </p:grpSpPr>
          <p:sp>
            <p:nvSpPr>
              <p:cNvPr name="Freeform 17" id="17"/>
              <p:cNvSpPr/>
              <p:nvPr/>
            </p:nvSpPr>
            <p:spPr>
              <a:xfrm flipH="false" flipV="false" rot="0">
                <a:off x="0" y="0"/>
                <a:ext cx="812800" cy="1803925"/>
              </a:xfrm>
              <a:custGeom>
                <a:avLst/>
                <a:gdLst/>
                <a:ahLst/>
                <a:cxnLst/>
                <a:rect r="r" b="b" t="t" l="l"/>
                <a:pathLst>
                  <a:path h="1803925" w="812800">
                    <a:moveTo>
                      <a:pt x="406400" y="0"/>
                    </a:moveTo>
                    <a:lnTo>
                      <a:pt x="535715" y="614961"/>
                    </a:lnTo>
                    <a:lnTo>
                      <a:pt x="812800" y="901962"/>
                    </a:lnTo>
                    <a:lnTo>
                      <a:pt x="535715" y="1188964"/>
                    </a:lnTo>
                    <a:lnTo>
                      <a:pt x="406400" y="1803925"/>
                    </a:lnTo>
                    <a:lnTo>
                      <a:pt x="277085" y="1188964"/>
                    </a:lnTo>
                    <a:lnTo>
                      <a:pt x="0" y="901962"/>
                    </a:lnTo>
                    <a:lnTo>
                      <a:pt x="277085" y="614961"/>
                    </a:lnTo>
                    <a:lnTo>
                      <a:pt x="406400" y="0"/>
                    </a:lnTo>
                    <a:close/>
                  </a:path>
                </a:pathLst>
              </a:custGeom>
              <a:solidFill>
                <a:srgbClr val="FFFFFF"/>
              </a:solidFill>
              <a:ln cap="sq">
                <a:noFill/>
                <a:prstDash val="solid"/>
                <a:miter/>
              </a:ln>
            </p:spPr>
          </p:sp>
          <p:sp>
            <p:nvSpPr>
              <p:cNvPr name="TextBox 18" id="18"/>
              <p:cNvSpPr txBox="true"/>
              <p:nvPr/>
            </p:nvSpPr>
            <p:spPr>
              <a:xfrm>
                <a:off x="190500" y="460895"/>
                <a:ext cx="431800" cy="92023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9" id="19"/>
            <p:cNvSpPr txBox="true"/>
            <p:nvPr/>
          </p:nvSpPr>
          <p:spPr>
            <a:xfrm rot="0">
              <a:off x="1848066" y="5368330"/>
              <a:ext cx="6502307" cy="1794934"/>
            </a:xfrm>
            <a:prstGeom prst="rect">
              <a:avLst/>
            </a:prstGeom>
          </p:spPr>
          <p:txBody>
            <a:bodyPr anchor="t" rtlCol="false" tIns="0" lIns="0" bIns="0" rIns="0">
              <a:spAutoFit/>
            </a:bodyPr>
            <a:lstStyle/>
            <a:p>
              <a:pPr algn="l">
                <a:lnSpc>
                  <a:spcPts val="5150"/>
                </a:lnSpc>
              </a:pPr>
            </a:p>
            <a:p>
              <a:pPr algn="l">
                <a:lnSpc>
                  <a:spcPts val="5150"/>
                </a:lnSpc>
              </a:pPr>
            </a:p>
          </p:txBody>
        </p:sp>
      </p:grpSp>
      <p:sp>
        <p:nvSpPr>
          <p:cNvPr name="TextBox 20" id="20"/>
          <p:cNvSpPr txBox="true"/>
          <p:nvPr/>
        </p:nvSpPr>
        <p:spPr>
          <a:xfrm rot="0">
            <a:off x="4195948" y="200025"/>
            <a:ext cx="7374890" cy="1304583"/>
          </a:xfrm>
          <a:prstGeom prst="rect">
            <a:avLst/>
          </a:prstGeom>
        </p:spPr>
        <p:txBody>
          <a:bodyPr anchor="t" rtlCol="false" tIns="0" lIns="0" bIns="0" rIns="0">
            <a:spAutoFit/>
          </a:bodyPr>
          <a:lstStyle/>
          <a:p>
            <a:pPr algn="l">
              <a:lnSpc>
                <a:spcPts val="9603"/>
              </a:lnSpc>
            </a:pPr>
            <a:r>
              <a:rPr lang="en-US" sz="9900">
                <a:solidFill>
                  <a:srgbClr val="F4F4ED"/>
                </a:solidFill>
                <a:latin typeface="Archivo Black"/>
                <a:ea typeface="Archivo Black"/>
                <a:cs typeface="Archivo Black"/>
                <a:sym typeface="Archivo Black"/>
              </a:rPr>
              <a:t>Dharambir</a:t>
            </a:r>
          </a:p>
        </p:txBody>
      </p:sp>
      <p:sp>
        <p:nvSpPr>
          <p:cNvPr name="TextBox 21" id="21"/>
          <p:cNvSpPr txBox="true"/>
          <p:nvPr/>
        </p:nvSpPr>
        <p:spPr>
          <a:xfrm rot="0">
            <a:off x="4195948" y="1864291"/>
            <a:ext cx="10946094" cy="5988802"/>
          </a:xfrm>
          <a:prstGeom prst="rect">
            <a:avLst/>
          </a:prstGeom>
        </p:spPr>
        <p:txBody>
          <a:bodyPr anchor="t" rtlCol="false" tIns="0" lIns="0" bIns="0" rIns="0">
            <a:spAutoFit/>
          </a:bodyPr>
          <a:lstStyle/>
          <a:p>
            <a:pPr algn="l">
              <a:lnSpc>
                <a:spcPts val="5918"/>
              </a:lnSpc>
            </a:pPr>
            <a:r>
              <a:rPr lang="en-US" sz="4384" spc="263">
                <a:solidFill>
                  <a:srgbClr val="F4F4ED"/>
                </a:solidFill>
                <a:latin typeface="Red Hat Display"/>
                <a:ea typeface="Red Hat Display"/>
                <a:cs typeface="Red Hat Display"/>
                <a:sym typeface="Red Hat Display"/>
              </a:rPr>
              <a:t>Respons</a:t>
            </a:r>
            <a:r>
              <a:rPr lang="en-US" sz="4384" spc="263" u="none">
                <a:solidFill>
                  <a:srgbClr val="F4F4ED"/>
                </a:solidFill>
                <a:latin typeface="Red Hat Display"/>
                <a:ea typeface="Red Hat Display"/>
                <a:cs typeface="Red Hat Display"/>
                <a:sym typeface="Red Hat Display"/>
              </a:rPr>
              <a:t>ible for creating the graphical interface using tkinter. Designed the login, registration, and main dashboard screens for students to view, enroll in, and drop courses. Ensured the interface was user-friendly and connected seamlessly with the logic layer.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1914697" y="732016"/>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4" id="4"/>
          <p:cNvSpPr/>
          <p:nvPr/>
        </p:nvSpPr>
        <p:spPr>
          <a:xfrm flipH="false" flipV="false" rot="0">
            <a:off x="16362880" y="8130249"/>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5282091" y="-611255"/>
            <a:ext cx="14019776" cy="10411589"/>
            <a:chOff x="0" y="0"/>
            <a:chExt cx="18693034" cy="13882119"/>
          </a:xfrm>
        </p:grpSpPr>
        <p:grpSp>
          <p:nvGrpSpPr>
            <p:cNvPr name="Group 6" id="6"/>
            <p:cNvGrpSpPr/>
            <p:nvPr/>
          </p:nvGrpSpPr>
          <p:grpSpPr>
            <a:xfrm rot="0">
              <a:off x="0" y="0"/>
              <a:ext cx="18693034" cy="13882119"/>
              <a:chOff x="0" y="0"/>
              <a:chExt cx="2129666" cy="1581566"/>
            </a:xfrm>
          </p:grpSpPr>
          <p:sp>
            <p:nvSpPr>
              <p:cNvPr name="Freeform 7" id="7"/>
              <p:cNvSpPr/>
              <p:nvPr/>
            </p:nvSpPr>
            <p:spPr>
              <a:xfrm flipH="false" flipV="false" rot="0">
                <a:off x="0" y="0"/>
                <a:ext cx="2129666" cy="1581566"/>
              </a:xfrm>
              <a:custGeom>
                <a:avLst/>
                <a:gdLst/>
                <a:ahLst/>
                <a:cxnLst/>
                <a:rect r="r" b="b" t="t" l="l"/>
                <a:pathLst>
                  <a:path h="1581566" w="2129666">
                    <a:moveTo>
                      <a:pt x="19149" y="0"/>
                    </a:moveTo>
                    <a:lnTo>
                      <a:pt x="2110517" y="0"/>
                    </a:lnTo>
                    <a:cubicBezTo>
                      <a:pt x="2115595" y="0"/>
                      <a:pt x="2120466" y="2017"/>
                      <a:pt x="2124057" y="5609"/>
                    </a:cubicBezTo>
                    <a:cubicBezTo>
                      <a:pt x="2127648" y="9200"/>
                      <a:pt x="2129666" y="14070"/>
                      <a:pt x="2129666" y="19149"/>
                    </a:cubicBezTo>
                    <a:lnTo>
                      <a:pt x="2129666" y="1562418"/>
                    </a:lnTo>
                    <a:cubicBezTo>
                      <a:pt x="2129666" y="1567496"/>
                      <a:pt x="2127648" y="1572367"/>
                      <a:pt x="2124057" y="1575958"/>
                    </a:cubicBezTo>
                    <a:cubicBezTo>
                      <a:pt x="2120466" y="1579549"/>
                      <a:pt x="2115595" y="1581566"/>
                      <a:pt x="2110517" y="1581566"/>
                    </a:cubicBezTo>
                    <a:lnTo>
                      <a:pt x="19149" y="1581566"/>
                    </a:lnTo>
                    <a:cubicBezTo>
                      <a:pt x="14070" y="1581566"/>
                      <a:pt x="9200" y="1579549"/>
                      <a:pt x="5609" y="1575958"/>
                    </a:cubicBezTo>
                    <a:cubicBezTo>
                      <a:pt x="2017" y="1572367"/>
                      <a:pt x="0" y="1567496"/>
                      <a:pt x="0" y="1562418"/>
                    </a:cubicBezTo>
                    <a:lnTo>
                      <a:pt x="0" y="19149"/>
                    </a:lnTo>
                    <a:cubicBezTo>
                      <a:pt x="0" y="14070"/>
                      <a:pt x="2017" y="9200"/>
                      <a:pt x="5609" y="5609"/>
                    </a:cubicBezTo>
                    <a:cubicBezTo>
                      <a:pt x="9200" y="2017"/>
                      <a:pt x="14070" y="0"/>
                      <a:pt x="19149" y="0"/>
                    </a:cubicBezTo>
                    <a:close/>
                  </a:path>
                </a:pathLst>
              </a:custGeom>
              <a:solidFill>
                <a:srgbClr val="04001E"/>
              </a:solidFill>
              <a:ln w="38100" cap="sq">
                <a:solidFill>
                  <a:srgbClr val="E5E1DA"/>
                </a:solidFill>
                <a:prstDash val="solid"/>
                <a:miter/>
              </a:ln>
            </p:spPr>
          </p:sp>
          <p:sp>
            <p:nvSpPr>
              <p:cNvPr name="TextBox 8" id="8"/>
              <p:cNvSpPr txBox="true"/>
              <p:nvPr/>
            </p:nvSpPr>
            <p:spPr>
              <a:xfrm>
                <a:off x="0" y="-38100"/>
                <a:ext cx="2129666" cy="1619666"/>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329338" y="1927952"/>
              <a:ext cx="15498640" cy="2838147"/>
            </a:xfrm>
            <a:prstGeom prst="rect">
              <a:avLst/>
            </a:prstGeom>
          </p:spPr>
          <p:txBody>
            <a:bodyPr anchor="t" rtlCol="false" tIns="0" lIns="0" bIns="0" rIns="0">
              <a:spAutoFit/>
            </a:bodyPr>
            <a:lstStyle/>
            <a:p>
              <a:pPr algn="l">
                <a:lnSpc>
                  <a:spcPts val="15136"/>
                </a:lnSpc>
              </a:pPr>
              <a:r>
                <a:rPr lang="en-US" sz="15604">
                  <a:solidFill>
                    <a:srgbClr val="F4F4ED"/>
                  </a:solidFill>
                  <a:latin typeface="Archivo Black"/>
                  <a:ea typeface="Archivo Black"/>
                  <a:cs typeface="Archivo Black"/>
                  <a:sym typeface="Archivo Black"/>
                </a:rPr>
                <a:t>Uzoma</a:t>
              </a:r>
            </a:p>
          </p:txBody>
        </p:sp>
        <p:sp>
          <p:nvSpPr>
            <p:cNvPr name="TextBox 10" id="10"/>
            <p:cNvSpPr txBox="true"/>
            <p:nvPr/>
          </p:nvSpPr>
          <p:spPr>
            <a:xfrm rot="0">
              <a:off x="1502471" y="5593180"/>
              <a:ext cx="14009857" cy="6685554"/>
            </a:xfrm>
            <a:prstGeom prst="rect">
              <a:avLst/>
            </a:prstGeom>
          </p:spPr>
          <p:txBody>
            <a:bodyPr anchor="t" rtlCol="false" tIns="0" lIns="0" bIns="0" rIns="0">
              <a:spAutoFit/>
            </a:bodyPr>
            <a:lstStyle/>
            <a:p>
              <a:pPr algn="l">
                <a:lnSpc>
                  <a:spcPts val="5681"/>
                </a:lnSpc>
              </a:pPr>
              <a:r>
                <a:rPr lang="en-US" sz="4208" spc="252">
                  <a:solidFill>
                    <a:srgbClr val="F4F4ED"/>
                  </a:solidFill>
                  <a:latin typeface="Red Hat Display"/>
                  <a:ea typeface="Red Hat Display"/>
                  <a:cs typeface="Red Hat Display"/>
                  <a:sym typeface="Red Hat Display"/>
                </a:rPr>
                <a:t>Managed CSV data storage (students.csv, courses.csv, and enrollments.csv) and ensured smooth data persistence. Co</a:t>
              </a:r>
              <a:r>
                <a:rPr lang="en-US" sz="4208" spc="252" u="none">
                  <a:solidFill>
                    <a:srgbClr val="F4F4ED"/>
                  </a:solidFill>
                  <a:latin typeface="Red Hat Display"/>
                  <a:ea typeface="Red Hat Display"/>
                  <a:cs typeface="Red Hat Display"/>
                  <a:sym typeface="Red Hat Display"/>
                </a:rPr>
                <a:t>nducted testing for enrollment validation, error handling, and data integrity between sessions.</a:t>
              </a:r>
            </a:p>
          </p:txBody>
        </p:sp>
      </p:grpSp>
      <p:grpSp>
        <p:nvGrpSpPr>
          <p:cNvPr name="Group 11" id="11"/>
          <p:cNvGrpSpPr/>
          <p:nvPr/>
        </p:nvGrpSpPr>
        <p:grpSpPr>
          <a:xfrm rot="0">
            <a:off x="17259300" y="4026945"/>
            <a:ext cx="6262780" cy="6260055"/>
            <a:chOff x="0" y="0"/>
            <a:chExt cx="8350373" cy="8346741"/>
          </a:xfrm>
        </p:grpSpPr>
        <p:grpSp>
          <p:nvGrpSpPr>
            <p:cNvPr name="Group 12" id="12"/>
            <p:cNvGrpSpPr/>
            <p:nvPr/>
          </p:nvGrpSpPr>
          <p:grpSpPr>
            <a:xfrm rot="-5400000">
              <a:off x="320891" y="7499537"/>
              <a:ext cx="526312" cy="1168095"/>
              <a:chOff x="0" y="0"/>
              <a:chExt cx="812800" cy="1803925"/>
            </a:xfrm>
          </p:grpSpPr>
          <p:sp>
            <p:nvSpPr>
              <p:cNvPr name="Freeform 13" id="13"/>
              <p:cNvSpPr/>
              <p:nvPr/>
            </p:nvSpPr>
            <p:spPr>
              <a:xfrm flipH="false" flipV="false" rot="0">
                <a:off x="0" y="0"/>
                <a:ext cx="812800" cy="1803925"/>
              </a:xfrm>
              <a:custGeom>
                <a:avLst/>
                <a:gdLst/>
                <a:ahLst/>
                <a:cxnLst/>
                <a:rect r="r" b="b" t="t" l="l"/>
                <a:pathLst>
                  <a:path h="1803925" w="812800">
                    <a:moveTo>
                      <a:pt x="406400" y="0"/>
                    </a:moveTo>
                    <a:lnTo>
                      <a:pt x="535715" y="614961"/>
                    </a:lnTo>
                    <a:lnTo>
                      <a:pt x="812800" y="901962"/>
                    </a:lnTo>
                    <a:lnTo>
                      <a:pt x="535715" y="1188964"/>
                    </a:lnTo>
                    <a:lnTo>
                      <a:pt x="406400" y="1803925"/>
                    </a:lnTo>
                    <a:lnTo>
                      <a:pt x="277085" y="1188964"/>
                    </a:lnTo>
                    <a:lnTo>
                      <a:pt x="0" y="901962"/>
                    </a:lnTo>
                    <a:lnTo>
                      <a:pt x="277085" y="614961"/>
                    </a:lnTo>
                    <a:lnTo>
                      <a:pt x="406400" y="0"/>
                    </a:lnTo>
                    <a:close/>
                  </a:path>
                </a:pathLst>
              </a:custGeom>
              <a:solidFill>
                <a:srgbClr val="FFFFFF"/>
              </a:solidFill>
              <a:ln cap="sq">
                <a:noFill/>
                <a:prstDash val="solid"/>
                <a:miter/>
              </a:ln>
            </p:spPr>
          </p:sp>
          <p:sp>
            <p:nvSpPr>
              <p:cNvPr name="TextBox 14" id="14"/>
              <p:cNvSpPr txBox="true"/>
              <p:nvPr/>
            </p:nvSpPr>
            <p:spPr>
              <a:xfrm>
                <a:off x="190500" y="460895"/>
                <a:ext cx="431800" cy="92023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5" id="15"/>
            <p:cNvGrpSpPr/>
            <p:nvPr/>
          </p:nvGrpSpPr>
          <p:grpSpPr>
            <a:xfrm rot="-5400000">
              <a:off x="320891" y="3785573"/>
              <a:ext cx="526312" cy="1168095"/>
              <a:chOff x="0" y="0"/>
              <a:chExt cx="812800" cy="1803925"/>
            </a:xfrm>
          </p:grpSpPr>
          <p:sp>
            <p:nvSpPr>
              <p:cNvPr name="Freeform 16" id="16"/>
              <p:cNvSpPr/>
              <p:nvPr/>
            </p:nvSpPr>
            <p:spPr>
              <a:xfrm flipH="false" flipV="false" rot="0">
                <a:off x="0" y="0"/>
                <a:ext cx="812800" cy="1803925"/>
              </a:xfrm>
              <a:custGeom>
                <a:avLst/>
                <a:gdLst/>
                <a:ahLst/>
                <a:cxnLst/>
                <a:rect r="r" b="b" t="t" l="l"/>
                <a:pathLst>
                  <a:path h="1803925" w="812800">
                    <a:moveTo>
                      <a:pt x="406400" y="0"/>
                    </a:moveTo>
                    <a:lnTo>
                      <a:pt x="535715" y="614961"/>
                    </a:lnTo>
                    <a:lnTo>
                      <a:pt x="812800" y="901962"/>
                    </a:lnTo>
                    <a:lnTo>
                      <a:pt x="535715" y="1188964"/>
                    </a:lnTo>
                    <a:lnTo>
                      <a:pt x="406400" y="1803925"/>
                    </a:lnTo>
                    <a:lnTo>
                      <a:pt x="277085" y="1188964"/>
                    </a:lnTo>
                    <a:lnTo>
                      <a:pt x="0" y="901962"/>
                    </a:lnTo>
                    <a:lnTo>
                      <a:pt x="277085" y="614961"/>
                    </a:lnTo>
                    <a:lnTo>
                      <a:pt x="406400" y="0"/>
                    </a:lnTo>
                    <a:close/>
                  </a:path>
                </a:pathLst>
              </a:custGeom>
              <a:solidFill>
                <a:srgbClr val="FFFFFF"/>
              </a:solidFill>
              <a:ln cap="sq">
                <a:noFill/>
                <a:prstDash val="solid"/>
                <a:miter/>
              </a:ln>
            </p:spPr>
          </p:sp>
          <p:sp>
            <p:nvSpPr>
              <p:cNvPr name="TextBox 17" id="17"/>
              <p:cNvSpPr txBox="true"/>
              <p:nvPr/>
            </p:nvSpPr>
            <p:spPr>
              <a:xfrm>
                <a:off x="190500" y="460895"/>
                <a:ext cx="431800" cy="920235"/>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8" id="18"/>
            <p:cNvGrpSpPr/>
            <p:nvPr/>
          </p:nvGrpSpPr>
          <p:grpSpPr>
            <a:xfrm rot="-5400000">
              <a:off x="320891" y="-81533"/>
              <a:ext cx="526312" cy="1168095"/>
              <a:chOff x="0" y="0"/>
              <a:chExt cx="812800" cy="1803925"/>
            </a:xfrm>
          </p:grpSpPr>
          <p:sp>
            <p:nvSpPr>
              <p:cNvPr name="Freeform 19" id="19"/>
              <p:cNvSpPr/>
              <p:nvPr/>
            </p:nvSpPr>
            <p:spPr>
              <a:xfrm flipH="false" flipV="false" rot="0">
                <a:off x="0" y="0"/>
                <a:ext cx="812800" cy="1803925"/>
              </a:xfrm>
              <a:custGeom>
                <a:avLst/>
                <a:gdLst/>
                <a:ahLst/>
                <a:cxnLst/>
                <a:rect r="r" b="b" t="t" l="l"/>
                <a:pathLst>
                  <a:path h="1803925" w="812800">
                    <a:moveTo>
                      <a:pt x="406400" y="0"/>
                    </a:moveTo>
                    <a:lnTo>
                      <a:pt x="535715" y="614961"/>
                    </a:lnTo>
                    <a:lnTo>
                      <a:pt x="812800" y="901962"/>
                    </a:lnTo>
                    <a:lnTo>
                      <a:pt x="535715" y="1188964"/>
                    </a:lnTo>
                    <a:lnTo>
                      <a:pt x="406400" y="1803925"/>
                    </a:lnTo>
                    <a:lnTo>
                      <a:pt x="277085" y="1188964"/>
                    </a:lnTo>
                    <a:lnTo>
                      <a:pt x="0" y="901962"/>
                    </a:lnTo>
                    <a:lnTo>
                      <a:pt x="277085" y="614961"/>
                    </a:lnTo>
                    <a:lnTo>
                      <a:pt x="406400" y="0"/>
                    </a:lnTo>
                    <a:close/>
                  </a:path>
                </a:pathLst>
              </a:custGeom>
              <a:solidFill>
                <a:srgbClr val="FFFFFF"/>
              </a:solidFill>
              <a:ln cap="sq">
                <a:noFill/>
                <a:prstDash val="solid"/>
                <a:miter/>
              </a:ln>
            </p:spPr>
          </p:sp>
          <p:sp>
            <p:nvSpPr>
              <p:cNvPr name="TextBox 20" id="20"/>
              <p:cNvSpPr txBox="true"/>
              <p:nvPr/>
            </p:nvSpPr>
            <p:spPr>
              <a:xfrm>
                <a:off x="190500" y="460895"/>
                <a:ext cx="431800" cy="92023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21" id="21"/>
            <p:cNvSpPr txBox="true"/>
            <p:nvPr/>
          </p:nvSpPr>
          <p:spPr>
            <a:xfrm rot="0">
              <a:off x="1848066" y="76200"/>
              <a:ext cx="6502307" cy="1794934"/>
            </a:xfrm>
            <a:prstGeom prst="rect">
              <a:avLst/>
            </a:prstGeom>
          </p:spPr>
          <p:txBody>
            <a:bodyPr anchor="t" rtlCol="false" tIns="0" lIns="0" bIns="0" rIns="0">
              <a:spAutoFit/>
            </a:bodyPr>
            <a:lstStyle/>
            <a:p>
              <a:pPr algn="l">
                <a:lnSpc>
                  <a:spcPts val="5150"/>
                </a:lnSpc>
              </a:pPr>
            </a:p>
            <a:p>
              <a:pPr algn="l">
                <a:lnSpc>
                  <a:spcPts val="5150"/>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1914697" y="732016"/>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4" id="4"/>
          <p:cNvSpPr/>
          <p:nvPr/>
        </p:nvSpPr>
        <p:spPr>
          <a:xfrm flipH="false" flipV="false" rot="0">
            <a:off x="16362880" y="8130249"/>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667127" y="-1945550"/>
            <a:ext cx="17926427" cy="13047901"/>
            <a:chOff x="0" y="0"/>
            <a:chExt cx="23901903" cy="17397201"/>
          </a:xfrm>
        </p:grpSpPr>
        <p:grpSp>
          <p:nvGrpSpPr>
            <p:cNvPr name="Group 6" id="6"/>
            <p:cNvGrpSpPr/>
            <p:nvPr/>
          </p:nvGrpSpPr>
          <p:grpSpPr>
            <a:xfrm rot="0">
              <a:off x="0" y="0"/>
              <a:ext cx="23901903" cy="17397201"/>
              <a:chOff x="0" y="0"/>
              <a:chExt cx="2129666" cy="1550095"/>
            </a:xfrm>
          </p:grpSpPr>
          <p:sp>
            <p:nvSpPr>
              <p:cNvPr name="Freeform 7" id="7"/>
              <p:cNvSpPr/>
              <p:nvPr/>
            </p:nvSpPr>
            <p:spPr>
              <a:xfrm flipH="false" flipV="false" rot="0">
                <a:off x="0" y="0"/>
                <a:ext cx="2129666" cy="1550095"/>
              </a:xfrm>
              <a:custGeom>
                <a:avLst/>
                <a:gdLst/>
                <a:ahLst/>
                <a:cxnLst/>
                <a:rect r="r" b="b" t="t" l="l"/>
                <a:pathLst>
                  <a:path h="1550095" w="2129666">
                    <a:moveTo>
                      <a:pt x="19149" y="0"/>
                    </a:moveTo>
                    <a:lnTo>
                      <a:pt x="2110517" y="0"/>
                    </a:lnTo>
                    <a:cubicBezTo>
                      <a:pt x="2115595" y="0"/>
                      <a:pt x="2120466" y="2017"/>
                      <a:pt x="2124057" y="5609"/>
                    </a:cubicBezTo>
                    <a:cubicBezTo>
                      <a:pt x="2127648" y="9200"/>
                      <a:pt x="2129666" y="14070"/>
                      <a:pt x="2129666" y="19149"/>
                    </a:cubicBezTo>
                    <a:lnTo>
                      <a:pt x="2129666" y="1530946"/>
                    </a:lnTo>
                    <a:cubicBezTo>
                      <a:pt x="2129666" y="1536025"/>
                      <a:pt x="2127648" y="1540895"/>
                      <a:pt x="2124057" y="1544486"/>
                    </a:cubicBezTo>
                    <a:cubicBezTo>
                      <a:pt x="2120466" y="1548078"/>
                      <a:pt x="2115595" y="1550095"/>
                      <a:pt x="2110517" y="1550095"/>
                    </a:cubicBezTo>
                    <a:lnTo>
                      <a:pt x="19149" y="1550095"/>
                    </a:lnTo>
                    <a:cubicBezTo>
                      <a:pt x="14070" y="1550095"/>
                      <a:pt x="9200" y="1548078"/>
                      <a:pt x="5609" y="1544486"/>
                    </a:cubicBezTo>
                    <a:cubicBezTo>
                      <a:pt x="2017" y="1540895"/>
                      <a:pt x="0" y="1536025"/>
                      <a:pt x="0" y="1530946"/>
                    </a:cubicBezTo>
                    <a:lnTo>
                      <a:pt x="0" y="19149"/>
                    </a:lnTo>
                    <a:cubicBezTo>
                      <a:pt x="0" y="14070"/>
                      <a:pt x="2017" y="9200"/>
                      <a:pt x="5609" y="5609"/>
                    </a:cubicBezTo>
                    <a:cubicBezTo>
                      <a:pt x="9200" y="2017"/>
                      <a:pt x="14070" y="0"/>
                      <a:pt x="19149" y="0"/>
                    </a:cubicBezTo>
                    <a:close/>
                  </a:path>
                </a:pathLst>
              </a:custGeom>
              <a:solidFill>
                <a:srgbClr val="04001E"/>
              </a:solidFill>
              <a:ln w="38100" cap="sq">
                <a:solidFill>
                  <a:srgbClr val="E5E1DA"/>
                </a:solidFill>
                <a:prstDash val="solid"/>
                <a:miter/>
              </a:ln>
            </p:spPr>
          </p:sp>
          <p:sp>
            <p:nvSpPr>
              <p:cNvPr name="TextBox 8" id="8"/>
              <p:cNvSpPr txBox="true"/>
              <p:nvPr/>
            </p:nvSpPr>
            <p:spPr>
              <a:xfrm>
                <a:off x="0" y="-38100"/>
                <a:ext cx="2129666" cy="1588195"/>
              </a:xfrm>
              <a:prstGeom prst="rect">
                <a:avLst/>
              </a:prstGeom>
            </p:spPr>
            <p:txBody>
              <a:bodyPr anchor="ctr" rtlCol="false" tIns="50800" lIns="50800" bIns="50800" rIns="50800"/>
              <a:lstStyle/>
              <a:p>
                <a:pPr algn="ctr">
                  <a:lnSpc>
                    <a:spcPts val="2660"/>
                  </a:lnSpc>
                </a:pPr>
              </a:p>
            </p:txBody>
          </p:sp>
        </p:grpSp>
        <p:sp>
          <p:nvSpPr>
            <p:cNvPr name="TextBox 9" id="9"/>
            <p:cNvSpPr txBox="true"/>
            <p:nvPr/>
          </p:nvSpPr>
          <p:spPr>
            <a:xfrm rot="0">
              <a:off x="1699762" y="2479715"/>
              <a:ext cx="19817381" cy="3614472"/>
            </a:xfrm>
            <a:prstGeom prst="rect">
              <a:avLst/>
            </a:prstGeom>
          </p:spPr>
          <p:txBody>
            <a:bodyPr anchor="t" rtlCol="false" tIns="0" lIns="0" bIns="0" rIns="0">
              <a:spAutoFit/>
            </a:bodyPr>
            <a:lstStyle/>
            <a:p>
              <a:pPr algn="l">
                <a:lnSpc>
                  <a:spcPts val="19353"/>
                </a:lnSpc>
              </a:pPr>
              <a:r>
                <a:rPr lang="en-US" sz="19952">
                  <a:solidFill>
                    <a:srgbClr val="F4F4ED"/>
                  </a:solidFill>
                  <a:latin typeface="Archivo Black"/>
                  <a:ea typeface="Archivo Black"/>
                  <a:cs typeface="Archivo Black"/>
                  <a:sym typeface="Archivo Black"/>
                </a:rPr>
                <a:t>Kelvin</a:t>
              </a:r>
            </a:p>
          </p:txBody>
        </p:sp>
        <p:sp>
          <p:nvSpPr>
            <p:cNvPr name="TextBox 10" id="10"/>
            <p:cNvSpPr txBox="true"/>
            <p:nvPr/>
          </p:nvSpPr>
          <p:spPr>
            <a:xfrm rot="0">
              <a:off x="1921139" y="7160791"/>
              <a:ext cx="17913745" cy="8186237"/>
            </a:xfrm>
            <a:prstGeom prst="rect">
              <a:avLst/>
            </a:prstGeom>
          </p:spPr>
          <p:txBody>
            <a:bodyPr anchor="t" rtlCol="false" tIns="0" lIns="0" bIns="0" rIns="0">
              <a:spAutoFit/>
            </a:bodyPr>
            <a:lstStyle/>
            <a:p>
              <a:pPr algn="l">
                <a:lnSpc>
                  <a:spcPts val="6992"/>
                </a:lnSpc>
              </a:pPr>
              <a:r>
                <a:rPr lang="en-US" sz="5179" spc="310">
                  <a:solidFill>
                    <a:srgbClr val="F4F4ED"/>
                  </a:solidFill>
                  <a:latin typeface="Red Hat Display"/>
                  <a:ea typeface="Red Hat Display"/>
                  <a:cs typeface="Red Hat Display"/>
                  <a:sym typeface="Red Hat Display"/>
                </a:rPr>
                <a:t>Implemented the core functionality of the system using Object-Oriented Programming principles. Developed the Student, Course, and EnrollmentSystem classes, including features for schedule conflict detection, credit limits, and CSV-based file handling.</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431527" y="-797681"/>
            <a:ext cx="10284037" cy="7806782"/>
            <a:chOff x="0" y="0"/>
            <a:chExt cx="13712050" cy="10409043"/>
          </a:xfrm>
        </p:grpSpPr>
        <p:grpSp>
          <p:nvGrpSpPr>
            <p:cNvPr name="Group 4" id="4"/>
            <p:cNvGrpSpPr/>
            <p:nvPr/>
          </p:nvGrpSpPr>
          <p:grpSpPr>
            <a:xfrm rot="0">
              <a:off x="0" y="0"/>
              <a:ext cx="13712050" cy="10409043"/>
              <a:chOff x="0" y="0"/>
              <a:chExt cx="2708553" cy="2056107"/>
            </a:xfrm>
          </p:grpSpPr>
          <p:sp>
            <p:nvSpPr>
              <p:cNvPr name="Freeform 5" id="5"/>
              <p:cNvSpPr/>
              <p:nvPr/>
            </p:nvSpPr>
            <p:spPr>
              <a:xfrm flipH="false" flipV="false" rot="0">
                <a:off x="0" y="0"/>
                <a:ext cx="2708553" cy="2056107"/>
              </a:xfrm>
              <a:custGeom>
                <a:avLst/>
                <a:gdLst/>
                <a:ahLst/>
                <a:cxnLst/>
                <a:rect r="r" b="b" t="t" l="l"/>
                <a:pathLst>
                  <a:path h="2056107" w="2708553">
                    <a:moveTo>
                      <a:pt x="15056" y="0"/>
                    </a:moveTo>
                    <a:lnTo>
                      <a:pt x="2693497" y="0"/>
                    </a:lnTo>
                    <a:cubicBezTo>
                      <a:pt x="2701812" y="0"/>
                      <a:pt x="2708553" y="6741"/>
                      <a:pt x="2708553" y="15056"/>
                    </a:cubicBezTo>
                    <a:lnTo>
                      <a:pt x="2708553" y="2041051"/>
                    </a:lnTo>
                    <a:cubicBezTo>
                      <a:pt x="2708553" y="2045044"/>
                      <a:pt x="2706967" y="2048874"/>
                      <a:pt x="2704143" y="2051697"/>
                    </a:cubicBezTo>
                    <a:cubicBezTo>
                      <a:pt x="2701320" y="2054521"/>
                      <a:pt x="2697490" y="2056107"/>
                      <a:pt x="2693497" y="2056107"/>
                    </a:cubicBezTo>
                    <a:lnTo>
                      <a:pt x="15056" y="2056107"/>
                    </a:lnTo>
                    <a:cubicBezTo>
                      <a:pt x="6741" y="2056107"/>
                      <a:pt x="0" y="2049366"/>
                      <a:pt x="0" y="2041051"/>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name="TextBox 6" id="6"/>
              <p:cNvSpPr txBox="true"/>
              <p:nvPr/>
            </p:nvSpPr>
            <p:spPr>
              <a:xfrm>
                <a:off x="0" y="-38100"/>
                <a:ext cx="2708553" cy="2094207"/>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196340" y="1307149"/>
              <a:ext cx="11319371" cy="1186619"/>
            </a:xfrm>
            <a:prstGeom prst="rect">
              <a:avLst/>
            </a:prstGeom>
          </p:spPr>
          <p:txBody>
            <a:bodyPr anchor="t" rtlCol="false" tIns="0" lIns="0" bIns="0" rIns="0">
              <a:spAutoFit/>
            </a:bodyPr>
            <a:lstStyle/>
            <a:p>
              <a:pPr algn="l">
                <a:lnSpc>
                  <a:spcPts val="6305"/>
                </a:lnSpc>
              </a:pPr>
              <a:r>
                <a:rPr lang="en-US" sz="6500">
                  <a:solidFill>
                    <a:srgbClr val="FFFFFF"/>
                  </a:solidFill>
                  <a:latin typeface="Archivo Black"/>
                  <a:ea typeface="Archivo Black"/>
                  <a:cs typeface="Archivo Black"/>
                  <a:sym typeface="Archivo Black"/>
                </a:rPr>
                <a:t>Challenges Faced:</a:t>
              </a:r>
            </a:p>
          </p:txBody>
        </p:sp>
        <p:sp>
          <p:nvSpPr>
            <p:cNvPr name="TextBox 8" id="8"/>
            <p:cNvSpPr txBox="true"/>
            <p:nvPr/>
          </p:nvSpPr>
          <p:spPr>
            <a:xfrm rot="0">
              <a:off x="1323340" y="2834128"/>
              <a:ext cx="10276762" cy="6316981"/>
            </a:xfrm>
            <a:prstGeom prst="rect">
              <a:avLst/>
            </a:prstGeom>
          </p:spPr>
          <p:txBody>
            <a:bodyPr anchor="t" rtlCol="false" tIns="0" lIns="0" bIns="0" rIns="0">
              <a:spAutoFit/>
            </a:bodyPr>
            <a:lstStyle/>
            <a:p>
              <a:pPr algn="l" marL="604515" indent="-302257" lvl="1">
                <a:lnSpc>
                  <a:spcPts val="3779"/>
                </a:lnSpc>
                <a:buFont typeface="Arial"/>
                <a:buChar char="•"/>
              </a:pPr>
              <a:r>
                <a:rPr lang="en-US" sz="2799" spc="167">
                  <a:solidFill>
                    <a:srgbClr val="FFFFFF"/>
                  </a:solidFill>
                  <a:latin typeface="Red Hat Display"/>
                  <a:ea typeface="Red Hat Display"/>
                  <a:cs typeface="Red Hat Display"/>
                  <a:sym typeface="Red Hat Display"/>
                </a:rPr>
                <a:t>Integrating the GUI with the backend logic while keeping the code </a:t>
              </a:r>
              <a:r>
                <a:rPr lang="en-US" sz="2799" spc="167">
                  <a:solidFill>
                    <a:srgbClr val="FFFFFF"/>
                  </a:solidFill>
                  <a:latin typeface="Red Hat Display"/>
                  <a:ea typeface="Red Hat Display"/>
                  <a:cs typeface="Red Hat Display"/>
                  <a:sym typeface="Red Hat Display"/>
                </a:rPr>
                <a:t>organized and modular.</a:t>
              </a:r>
            </a:p>
            <a:p>
              <a:pPr algn="l" marL="604515" indent="-302257" lvl="1">
                <a:lnSpc>
                  <a:spcPts val="3779"/>
                </a:lnSpc>
                <a:buFont typeface="Arial"/>
                <a:buChar char="•"/>
              </a:pPr>
              <a:r>
                <a:rPr lang="en-US" sz="2799" spc="167">
                  <a:solidFill>
                    <a:srgbClr val="FFFFFF"/>
                  </a:solidFill>
                  <a:latin typeface="Red Hat Display"/>
                  <a:ea typeface="Red Hat Display"/>
                  <a:cs typeface="Red Hat Display"/>
                  <a:sym typeface="Red Hat Display"/>
                </a:rPr>
                <a:t>Preventing schedule conflicts and enforcing the 18-credit-hour enrollment limit.</a:t>
              </a:r>
            </a:p>
            <a:p>
              <a:pPr algn="l" marL="604515" indent="-302257" lvl="1">
                <a:lnSpc>
                  <a:spcPts val="3779"/>
                </a:lnSpc>
                <a:buFont typeface="Arial"/>
                <a:buChar char="•"/>
              </a:pPr>
              <a:r>
                <a:rPr lang="en-US" sz="2799" spc="167">
                  <a:solidFill>
                    <a:srgbClr val="FFFFFF"/>
                  </a:solidFill>
                  <a:latin typeface="Red Hat Display"/>
                  <a:ea typeface="Red Hat Display"/>
                  <a:cs typeface="Red Hat Display"/>
                  <a:sym typeface="Red Hat Display"/>
                </a:rPr>
                <a:t>Mai</a:t>
              </a:r>
              <a:r>
                <a:rPr lang="en-US" sz="2799" spc="167">
                  <a:solidFill>
                    <a:srgbClr val="FFFFFF"/>
                  </a:solidFill>
                  <a:latin typeface="Red Hat Display"/>
                  <a:ea typeface="Red Hat Display"/>
                  <a:cs typeface="Red Hat Display"/>
                  <a:sym typeface="Red Hat Display"/>
                </a:rPr>
                <a:t>ntaining data consistency across sessions through proper file handling.</a:t>
              </a:r>
            </a:p>
            <a:p>
              <a:pPr algn="l" marL="604515" indent="-302257" lvl="1">
                <a:lnSpc>
                  <a:spcPts val="3779"/>
                </a:lnSpc>
                <a:spcBef>
                  <a:spcPct val="0"/>
                </a:spcBef>
                <a:buFont typeface="Arial"/>
                <a:buChar char="•"/>
              </a:pPr>
              <a:r>
                <a:rPr lang="en-US" sz="2799" spc="167">
                  <a:solidFill>
                    <a:srgbClr val="FFFFFF"/>
                  </a:solidFill>
                  <a:latin typeface="Red Hat Display"/>
                  <a:ea typeface="Red Hat Display"/>
                  <a:cs typeface="Red Hat Display"/>
                  <a:sym typeface="Red Hat Display"/>
                </a:rPr>
                <a:t>Handling invalid inputs, missing data, and user errors gracefully.</a:t>
              </a:r>
            </a:p>
          </p:txBody>
        </p:sp>
      </p:grpSp>
      <p:sp>
        <p:nvSpPr>
          <p:cNvPr name="Freeform 9" id="9"/>
          <p:cNvSpPr/>
          <p:nvPr/>
        </p:nvSpPr>
        <p:spPr>
          <a:xfrm flipH="false" flipV="false" rot="0">
            <a:off x="11593955" y="785877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true" rot="-1542318">
            <a:off x="11968542" y="-103561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5"/>
            <a:stretch>
              <a:fillRect l="0" t="0" r="0" b="0"/>
            </a:stretch>
          </a:blipFill>
        </p:spPr>
      </p:sp>
      <p:grpSp>
        <p:nvGrpSpPr>
          <p:cNvPr name="Group 11" id="11"/>
          <p:cNvGrpSpPr/>
          <p:nvPr/>
        </p:nvGrpSpPr>
        <p:grpSpPr>
          <a:xfrm rot="0">
            <a:off x="9852510" y="321764"/>
            <a:ext cx="9850904" cy="11077811"/>
            <a:chOff x="0" y="0"/>
            <a:chExt cx="13134538" cy="14770414"/>
          </a:xfrm>
        </p:grpSpPr>
        <p:grpSp>
          <p:nvGrpSpPr>
            <p:cNvPr name="Group 12" id="12"/>
            <p:cNvGrpSpPr/>
            <p:nvPr/>
          </p:nvGrpSpPr>
          <p:grpSpPr>
            <a:xfrm rot="0">
              <a:off x="0" y="0"/>
              <a:ext cx="13134538" cy="14770414"/>
              <a:chOff x="0" y="0"/>
              <a:chExt cx="2668506" cy="3000862"/>
            </a:xfrm>
          </p:grpSpPr>
          <p:sp>
            <p:nvSpPr>
              <p:cNvPr name="Freeform 13" id="13"/>
              <p:cNvSpPr/>
              <p:nvPr/>
            </p:nvSpPr>
            <p:spPr>
              <a:xfrm flipH="false" flipV="false" rot="0">
                <a:off x="0" y="0"/>
                <a:ext cx="2668506" cy="3000862"/>
              </a:xfrm>
              <a:custGeom>
                <a:avLst/>
                <a:gdLst/>
                <a:ahLst/>
                <a:cxnLst/>
                <a:rect r="r" b="b" t="t" l="l"/>
                <a:pathLst>
                  <a:path h="3000862" w="2668506">
                    <a:moveTo>
                      <a:pt x="15282" y="0"/>
                    </a:moveTo>
                    <a:lnTo>
                      <a:pt x="2653224" y="0"/>
                    </a:lnTo>
                    <a:cubicBezTo>
                      <a:pt x="2657277" y="0"/>
                      <a:pt x="2661164" y="1610"/>
                      <a:pt x="2664030" y="4476"/>
                    </a:cubicBezTo>
                    <a:cubicBezTo>
                      <a:pt x="2666896" y="7342"/>
                      <a:pt x="2668506" y="11229"/>
                      <a:pt x="2668506" y="15282"/>
                    </a:cubicBezTo>
                    <a:lnTo>
                      <a:pt x="2668506" y="2985580"/>
                    </a:lnTo>
                    <a:cubicBezTo>
                      <a:pt x="2668506" y="2989633"/>
                      <a:pt x="2666896" y="2993520"/>
                      <a:pt x="2664030" y="2996386"/>
                    </a:cubicBezTo>
                    <a:cubicBezTo>
                      <a:pt x="2661164" y="2999252"/>
                      <a:pt x="2657277" y="3000862"/>
                      <a:pt x="2653224" y="3000862"/>
                    </a:cubicBezTo>
                    <a:lnTo>
                      <a:pt x="15282" y="3000862"/>
                    </a:lnTo>
                    <a:cubicBezTo>
                      <a:pt x="11229" y="3000862"/>
                      <a:pt x="7342" y="2999252"/>
                      <a:pt x="4476" y="2996386"/>
                    </a:cubicBezTo>
                    <a:cubicBezTo>
                      <a:pt x="1610" y="2993520"/>
                      <a:pt x="0" y="2989633"/>
                      <a:pt x="0" y="2985580"/>
                    </a:cubicBezTo>
                    <a:lnTo>
                      <a:pt x="0" y="15282"/>
                    </a:lnTo>
                    <a:cubicBezTo>
                      <a:pt x="0" y="11229"/>
                      <a:pt x="1610" y="7342"/>
                      <a:pt x="4476" y="4476"/>
                    </a:cubicBezTo>
                    <a:cubicBezTo>
                      <a:pt x="7342" y="1610"/>
                      <a:pt x="11229" y="0"/>
                      <a:pt x="15282" y="0"/>
                    </a:cubicBezTo>
                    <a:close/>
                  </a:path>
                </a:pathLst>
              </a:custGeom>
              <a:solidFill>
                <a:srgbClr val="04001E"/>
              </a:solidFill>
              <a:ln w="38100" cap="sq">
                <a:solidFill>
                  <a:srgbClr val="E5E1DA"/>
                </a:solidFill>
                <a:prstDash val="solid"/>
                <a:miter/>
              </a:ln>
            </p:spPr>
          </p:sp>
          <p:sp>
            <p:nvSpPr>
              <p:cNvPr name="TextBox 14" id="14"/>
              <p:cNvSpPr txBox="true"/>
              <p:nvPr/>
            </p:nvSpPr>
            <p:spPr>
              <a:xfrm>
                <a:off x="0" y="-38100"/>
                <a:ext cx="2668506" cy="3038962"/>
              </a:xfrm>
              <a:prstGeom prst="rect">
                <a:avLst/>
              </a:prstGeom>
            </p:spPr>
            <p:txBody>
              <a:bodyPr anchor="ctr" rtlCol="false" tIns="50800" lIns="50800" bIns="50800" rIns="50800"/>
              <a:lstStyle/>
              <a:p>
                <a:pPr algn="ctr">
                  <a:lnSpc>
                    <a:spcPts val="2660"/>
                  </a:lnSpc>
                </a:pPr>
              </a:p>
            </p:txBody>
          </p:sp>
        </p:grpSp>
        <p:sp>
          <p:nvSpPr>
            <p:cNvPr name="TextBox 15" id="15"/>
            <p:cNvSpPr txBox="true"/>
            <p:nvPr/>
          </p:nvSpPr>
          <p:spPr>
            <a:xfrm rot="0">
              <a:off x="1145953" y="1274586"/>
              <a:ext cx="10842632" cy="2187206"/>
            </a:xfrm>
            <a:prstGeom prst="rect">
              <a:avLst/>
            </a:prstGeom>
          </p:spPr>
          <p:txBody>
            <a:bodyPr anchor="t" rtlCol="false" tIns="0" lIns="0" bIns="0" rIns="0">
              <a:spAutoFit/>
            </a:bodyPr>
            <a:lstStyle/>
            <a:p>
              <a:pPr algn="l">
                <a:lnSpc>
                  <a:spcPts val="6130"/>
                </a:lnSpc>
              </a:pPr>
              <a:r>
                <a:rPr lang="en-US" sz="6320">
                  <a:solidFill>
                    <a:srgbClr val="FFFFFF"/>
                  </a:solidFill>
                  <a:latin typeface="Archivo Black"/>
                  <a:ea typeface="Archivo Black"/>
                  <a:cs typeface="Archivo Black"/>
                  <a:sym typeface="Archivo Black"/>
                </a:rPr>
                <a:t>Technical Fixes for Challenges:</a:t>
              </a:r>
            </a:p>
          </p:txBody>
        </p:sp>
        <p:sp>
          <p:nvSpPr>
            <p:cNvPr name="TextBox 16" id="16"/>
            <p:cNvSpPr txBox="true"/>
            <p:nvPr/>
          </p:nvSpPr>
          <p:spPr>
            <a:xfrm rot="0">
              <a:off x="1267604" y="3801178"/>
              <a:ext cx="9843934" cy="9746200"/>
            </a:xfrm>
            <a:prstGeom prst="rect">
              <a:avLst/>
            </a:prstGeom>
          </p:spPr>
          <p:txBody>
            <a:bodyPr anchor="t" rtlCol="false" tIns="0" lIns="0" bIns="0" rIns="0">
              <a:spAutoFit/>
            </a:bodyPr>
            <a:lstStyle/>
            <a:p>
              <a:pPr algn="l" marL="524773" indent="-262386" lvl="1">
                <a:lnSpc>
                  <a:spcPts val="3281"/>
                </a:lnSpc>
                <a:buFont typeface="Arial"/>
                <a:buChar char="•"/>
              </a:pPr>
              <a:r>
                <a:rPr lang="en-US" sz="2430" spc="145">
                  <a:solidFill>
                    <a:srgbClr val="FFFFFF"/>
                  </a:solidFill>
                  <a:latin typeface="Red Hat Display"/>
                  <a:ea typeface="Red Hat Display"/>
                  <a:cs typeface="Red Hat Display"/>
                  <a:sym typeface="Red Hat Display"/>
                </a:rPr>
                <a:t>Designed a modular system where the GUI (registration_gui.py) interacts only with the backend methods in the EnrollmentSystem class, ensuring a clear separation of logic and presentation.</a:t>
              </a:r>
            </a:p>
            <a:p>
              <a:pPr algn="l" marL="524773" indent="-262386" lvl="1">
                <a:lnSpc>
                  <a:spcPts val="3281"/>
                </a:lnSpc>
                <a:buFont typeface="Arial"/>
                <a:buChar char="•"/>
              </a:pPr>
              <a:r>
                <a:rPr lang="en-US" sz="2430" spc="145">
                  <a:solidFill>
                    <a:srgbClr val="FFFFFF"/>
                  </a:solidFill>
                  <a:latin typeface="Red Hat Display"/>
                  <a:ea typeface="Red Hat Display"/>
                  <a:cs typeface="Red Hat Display"/>
                  <a:sym typeface="Red Hat Display"/>
                </a:rPr>
                <a:t>Implement</a:t>
              </a:r>
              <a:r>
                <a:rPr lang="en-US" sz="2430" spc="145">
                  <a:solidFill>
                    <a:srgbClr val="FFFFFF"/>
                  </a:solidFill>
                  <a:latin typeface="Red Hat Display"/>
                  <a:ea typeface="Red Hat Display"/>
                  <a:cs typeface="Red Hat Display"/>
                  <a:sym typeface="Red Hat Display"/>
                </a:rPr>
                <a:t>ed has_schedule_conflict() and get_student_total_credits() methods to automatically detect overlapping class times and enforce the credit-hour cap.</a:t>
              </a:r>
            </a:p>
            <a:p>
              <a:pPr algn="l" marL="524773" indent="-262386" lvl="1">
                <a:lnSpc>
                  <a:spcPts val="3281"/>
                </a:lnSpc>
                <a:buFont typeface="Arial"/>
                <a:buChar char="•"/>
              </a:pPr>
              <a:r>
                <a:rPr lang="en-US" sz="2430" spc="145">
                  <a:solidFill>
                    <a:srgbClr val="FFFFFF"/>
                  </a:solidFill>
                  <a:latin typeface="Red Hat Display"/>
                  <a:ea typeface="Red Hat Display"/>
                  <a:cs typeface="Red Hat Display"/>
                  <a:sym typeface="Red Hat Display"/>
                </a:rPr>
                <a:t>Us</a:t>
              </a:r>
              <a:r>
                <a:rPr lang="en-US" sz="2430" spc="145">
                  <a:solidFill>
                    <a:srgbClr val="FFFFFF"/>
                  </a:solidFill>
                  <a:latin typeface="Red Hat Display"/>
                  <a:ea typeface="Red Hat Display"/>
                  <a:cs typeface="Red Hat Display"/>
                  <a:sym typeface="Red Hat Display"/>
                </a:rPr>
                <a:t>ed CSV files (students.csv, courses.csv, and enrollments.csv) with read/write functionality to persist all records between program runs.</a:t>
              </a:r>
            </a:p>
            <a:p>
              <a:pPr algn="l" marL="524773" indent="-262386" lvl="1">
                <a:lnSpc>
                  <a:spcPts val="3281"/>
                </a:lnSpc>
                <a:spcBef>
                  <a:spcPct val="0"/>
                </a:spcBef>
                <a:buFont typeface="Arial"/>
                <a:buChar char="•"/>
              </a:pPr>
              <a:r>
                <a:rPr lang="en-US" sz="2430" spc="145">
                  <a:solidFill>
                    <a:srgbClr val="FFFFFF"/>
                  </a:solidFill>
                  <a:latin typeface="Red Hat Display"/>
                  <a:ea typeface="Red Hat Display"/>
                  <a:cs typeface="Red Hat Display"/>
                  <a:sym typeface="Red Hat Display"/>
                </a:rPr>
                <a:t>Added error-handling logic and user feedback messages using try/except blocks and tkinter.messagebox to prevent crashes and guide users effectively.</a:t>
              </a:r>
            </a:p>
            <a:p>
              <a:pPr algn="l">
                <a:lnSpc>
                  <a:spcPts val="3281"/>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666040" y="3337037"/>
            <a:ext cx="9245435" cy="3374036"/>
          </a:xfrm>
          <a:prstGeom prst="rect">
            <a:avLst/>
          </a:prstGeom>
        </p:spPr>
        <p:txBody>
          <a:bodyPr anchor="t" rtlCol="false" tIns="0" lIns="0" bIns="0" rIns="0">
            <a:spAutoFit/>
          </a:bodyPr>
          <a:lstStyle/>
          <a:p>
            <a:pPr algn="l">
              <a:lnSpc>
                <a:spcPts val="12699"/>
              </a:lnSpc>
            </a:pPr>
            <a:r>
              <a:rPr lang="en-US" sz="14597">
                <a:solidFill>
                  <a:srgbClr val="FFFFFF"/>
                </a:solidFill>
                <a:latin typeface="Archivo Black"/>
                <a:ea typeface="Archivo Black"/>
                <a:cs typeface="Archivo Black"/>
                <a:sym typeface="Archivo Black"/>
              </a:rPr>
              <a:t>Thank you!</a:t>
            </a:r>
          </a:p>
        </p:txBody>
      </p:sp>
      <p:sp>
        <p:nvSpPr>
          <p:cNvPr name="Freeform 4" id="4"/>
          <p:cNvSpPr/>
          <p:nvPr/>
        </p:nvSpPr>
        <p:spPr>
          <a:xfrm flipH="false" flipV="false" rot="10435729">
            <a:off x="-3241105" y="-2477065"/>
            <a:ext cx="7951775" cy="8527373"/>
          </a:xfrm>
          <a:custGeom>
            <a:avLst/>
            <a:gdLst/>
            <a:ahLst/>
            <a:cxnLst/>
            <a:rect r="r" b="b" t="t" l="l"/>
            <a:pathLst>
              <a:path h="8527373" w="7951775">
                <a:moveTo>
                  <a:pt x="0" y="0"/>
                </a:moveTo>
                <a:lnTo>
                  <a:pt x="7951775" y="0"/>
                </a:lnTo>
                <a:lnTo>
                  <a:pt x="7951775" y="8527373"/>
                </a:lnTo>
                <a:lnTo>
                  <a:pt x="0" y="8527373"/>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DAG3OmAaa3s</dc:identifier>
  <dcterms:modified xsi:type="dcterms:W3CDTF">2011-08-01T06:04:30Z</dcterms:modified>
  <cp:revision>1</cp:revision>
  <dc:title>DSA LAB V PRESENTATION</dc:title>
</cp:coreProperties>
</file>