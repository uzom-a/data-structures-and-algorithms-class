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svg" ContentType="image/sv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CDC93F-4765-45D3-AC5A-4623F893EF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290604-E31E-47FE-AA77-6613EC21E8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5AA6B6D-858B-4710-8C57-CE8F161180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3FBA59D-DA46-47FE-8642-B00128ECDF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B5553B2-D8BD-4752-9C7D-537D3C8A88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F900FCE-B51F-47C2-ACDD-A1C83CAC4A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3CF92E4-418E-47E2-AD74-B55F4F09FB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C4817BD-F025-4E73-BEBD-E8E4C0D30C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B054354-7BAE-459F-9B63-03E39FE99E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A7F4E60-5164-4AAC-8490-F428E8A649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E4B3FF8-6143-4183-B5FD-F929DB4DB0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17400-0418-4456-876F-A2CC4B28A22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0E4DD0-0467-4902-A22C-5894F5CE93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B2098B-EDF2-40A6-AA24-E27B5BA387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3E5C9E-A426-42A3-81F8-E006F54930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275224-4669-41AC-A3A0-54D630E1CA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396529-C836-4BE5-B286-6CB2B16C4B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8133F4-6ADE-436D-BE62-BB47E673A2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4FF67-97D6-47CA-B8F2-B69763E9D6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95C15-87FF-4E43-B20B-C84CB2AF90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D1038A-67EC-4EEC-ABF4-00C67914F2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D76E0-174E-4E40-B5A2-67D974D6B1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432360" y="2625480"/>
            <a:ext cx="14553720" cy="31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217"/>
              </a:lnSpc>
            </a:pPr>
            <a:r>
              <a:rPr b="0" lang="en-US" sz="13000" spc="-1" strike="noStrike">
                <a:solidFill>
                  <a:srgbClr val="ffffff"/>
                </a:solidFill>
                <a:latin typeface="Archivo Black"/>
                <a:ea typeface="Archivo Black"/>
              </a:rPr>
              <a:t>DSA LAB II PRESENTATION</a:t>
            </a:r>
            <a:endParaRPr b="0" lang="en-US" sz="1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432360" y="6168600"/>
            <a:ext cx="10834920" cy="15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123"/>
              </a:lnSpc>
            </a:pPr>
            <a:r>
              <a:rPr b="0" lang="en-US" sz="4370" spc="-1" strike="noStrike">
                <a:solidFill>
                  <a:srgbClr val="f4f4ed"/>
                </a:solidFill>
                <a:latin typeface="Red Hat Display"/>
                <a:ea typeface="Red Hat Display"/>
              </a:rPr>
              <a:t>Presented by Kelvin, Uzoma and Dharambir</a:t>
            </a:r>
            <a:endParaRPr b="0" lang="en-US" sz="4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reeform 5"/>
          <p:cNvSpPr/>
          <p:nvPr/>
        </p:nvSpPr>
        <p:spPr>
          <a:xfrm flipV="1" rot="20057400">
            <a:off x="13653720" y="799560"/>
            <a:ext cx="7673760" cy="8229240"/>
          </a:xfrm>
          <a:custGeom>
            <a:avLst/>
            <a:gdLst>
              <a:gd name="textAreaLeft" fmla="*/ 0 w 7673760"/>
              <a:gd name="textAreaRight" fmla="*/ 7674120 w 7673760"/>
              <a:gd name="textAreaTop" fmla="*/ -360 h 8229240"/>
              <a:gd name="textAreaBottom" fmla="*/ 8229240 h 8229240"/>
            </a:gdLst>
            <a:ahLst/>
            <a:rect l="textAreaLeft" t="textAreaTop" r="textAreaRight" b="textAreaBottom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-20160" y="-96480"/>
            <a:ext cx="12099240" cy="12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92"/>
              </a:lnSpc>
            </a:pPr>
            <a:r>
              <a:rPr b="0" lang="en-US" sz="10300" spc="-1" strike="noStrike">
                <a:solidFill>
                  <a:srgbClr val="f4f4ed"/>
                </a:solidFill>
                <a:latin typeface="Archivo Black"/>
                <a:ea typeface="Archivo Black"/>
              </a:rPr>
              <a:t>Core Functionality</a:t>
            </a:r>
            <a:endParaRPr b="0" lang="en-US" sz="10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228600" y="2057400"/>
            <a:ext cx="10946520" cy="86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b="0" lang="en-US" sz="2630" spc="154" strike="noStrike">
                <a:solidFill>
                  <a:srgbClr val="ffffff"/>
                </a:solidFill>
                <a:latin typeface="Red Hat Display"/>
                <a:ea typeface="Red Hat Display"/>
              </a:rPr>
              <a:t>1.Database Logging</a:t>
            </a: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b="0" lang="en-US" sz="2630" spc="154" strike="noStrike">
                <a:solidFill>
                  <a:srgbClr val="ffffff"/>
                </a:solidFill>
                <a:latin typeface="Red Hat Display"/>
                <a:ea typeface="Red Hat Display"/>
              </a:rPr>
              <a:t>2.Loan Record Storage</a:t>
            </a: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b="0" lang="en-US" sz="2630" spc="154" strike="noStrike">
                <a:solidFill>
                  <a:srgbClr val="ffffff"/>
                </a:solidFill>
                <a:latin typeface="Red Hat Display"/>
                <a:ea typeface="Red Hat Display"/>
              </a:rPr>
              <a:t>3.Treat the stored file as a simple database to keep all approved and rejected loan applications organized for future review or reporting purposes.</a:t>
            </a: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b="0" lang="en-US" sz="2630" spc="154" strike="noStrike">
                <a:solidFill>
                  <a:srgbClr val="ffffff"/>
                </a:solidFill>
                <a:latin typeface="Red Hat Display"/>
                <a:ea typeface="Red Hat Display"/>
              </a:rPr>
              <a:t>4.Graphical User Interface (GUI)</a:t>
            </a: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b="0" lang="en-US" sz="2630" spc="154" strike="noStrike">
                <a:solidFill>
                  <a:srgbClr val="ffffff"/>
                </a:solidFill>
                <a:latin typeface="Red Hat Display"/>
                <a:ea typeface="Red Hat Display"/>
              </a:rPr>
              <a:t>5.Select the loan type, details, and calculate payments.</a:t>
            </a: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b="0" lang="en-US" sz="2630" spc="154" strike="noStrike">
                <a:solidFill>
                  <a:srgbClr val="ffffff"/>
                </a:solidFill>
                <a:latin typeface="Red Hat Display"/>
                <a:ea typeface="Red Hat Display"/>
              </a:rPr>
              <a:t>6.Add, update, or remove loan records.</a:t>
            </a: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b="0" lang="en-US" sz="2630" spc="154" strike="noStrike">
                <a:solidFill>
                  <a:srgbClr val="ffffff"/>
                </a:solidFill>
                <a:latin typeface="Red Hat Display"/>
                <a:ea typeface="Red Hat Display"/>
              </a:rPr>
              <a:t>7.Complete and save loan transactions to the persistent file.</a:t>
            </a: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b="0" lang="en-US" sz="2630" spc="154" strike="noStrike">
                <a:solidFill>
                  <a:srgbClr val="ffffff"/>
                </a:solidFill>
                <a:latin typeface="Red Hat Display"/>
                <a:ea typeface="Red Hat Display"/>
              </a:rPr>
              <a:t>8.View all past loan transactions, including payment summaries and loan status.</a:t>
            </a: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lvl="1" marL="568440" indent="-284040" defTabSz="914400">
              <a:lnSpc>
                <a:spcPts val="3552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endParaRPr b="0" lang="en-US" sz="26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552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Freeform 5"/>
          <p:cNvSpPr/>
          <p:nvPr/>
        </p:nvSpPr>
        <p:spPr>
          <a:xfrm rot="6627000">
            <a:off x="11777040" y="2555640"/>
            <a:ext cx="12220920" cy="8822520"/>
          </a:xfrm>
          <a:custGeom>
            <a:avLst/>
            <a:gdLst>
              <a:gd name="textAreaLeft" fmla="*/ 0 w 12220920"/>
              <a:gd name="textAreaRight" fmla="*/ 12221280 w 12220920"/>
              <a:gd name="textAreaTop" fmla="*/ 0 h 8822520"/>
              <a:gd name="textAreaBottom" fmla="*/ 8822880 h 8822520"/>
            </a:gdLst>
            <a:ahLst/>
            <a:rect l="textAreaLeft" t="textAreaTop" r="textAreaRight" b="textAreaBottom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Freeform 3"/>
          <p:cNvSpPr/>
          <p:nvPr/>
        </p:nvSpPr>
        <p:spPr>
          <a:xfrm flipH="1" rot="6627000">
            <a:off x="-1914840" y="732240"/>
            <a:ext cx="12220920" cy="8822520"/>
          </a:xfrm>
          <a:custGeom>
            <a:avLst/>
            <a:gdLst>
              <a:gd name="textAreaLeft" fmla="*/ -360 w 12220920"/>
              <a:gd name="textAreaRight" fmla="*/ 12220920 w 12220920"/>
              <a:gd name="textAreaTop" fmla="*/ 0 h 8822520"/>
              <a:gd name="textAreaBottom" fmla="*/ 8822880 h 8822520"/>
            </a:gdLst>
            <a:ahLst/>
            <a:rect l="textAreaLeft" t="textAreaTop" r="textAreaRight" b="textAreaBottom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Freeform 4"/>
          <p:cNvSpPr/>
          <p:nvPr/>
        </p:nvSpPr>
        <p:spPr>
          <a:xfrm>
            <a:off x="16362720" y="8130240"/>
            <a:ext cx="896040" cy="896040"/>
          </a:xfrm>
          <a:custGeom>
            <a:avLst/>
            <a:gdLst>
              <a:gd name="textAreaLeft" fmla="*/ 0 w 896040"/>
              <a:gd name="textAreaRight" fmla="*/ 896400 w 896040"/>
              <a:gd name="textAreaTop" fmla="*/ 0 h 896040"/>
              <a:gd name="textAreaBottom" fmla="*/ 896400 h 896040"/>
            </a:gdLst>
            <a:ahLst/>
            <a:rect l="textAreaLeft" t="textAreaTop" r="textAreaRight" b="textAreaBottom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8" name="Group 5"/>
          <p:cNvGrpSpPr/>
          <p:nvPr/>
        </p:nvGrpSpPr>
        <p:grpSpPr>
          <a:xfrm>
            <a:off x="4485240" y="-159120"/>
            <a:ext cx="13979880" cy="10445760"/>
            <a:chOff x="4485240" y="-159120"/>
            <a:chExt cx="13979880" cy="10445760"/>
          </a:xfrm>
        </p:grpSpPr>
        <p:sp>
          <p:nvSpPr>
            <p:cNvPr id="79" name="Freeform 6"/>
            <p:cNvSpPr/>
            <p:nvPr/>
          </p:nvSpPr>
          <p:spPr>
            <a:xfrm>
              <a:off x="4485240" y="0"/>
              <a:ext cx="13979880" cy="10286640"/>
            </a:xfrm>
            <a:custGeom>
              <a:avLst/>
              <a:gdLst>
                <a:gd name="textAreaLeft" fmla="*/ 0 w 13979880"/>
                <a:gd name="textAreaRight" fmla="*/ 13980240 w 1397988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3347223" h="2462966">
                  <a:moveTo>
                    <a:pt x="11076" y="0"/>
                  </a:moveTo>
                  <a:lnTo>
                    <a:pt x="3336148" y="0"/>
                  </a:lnTo>
                  <a:cubicBezTo>
                    <a:pt x="3342265" y="0"/>
                    <a:pt x="3347223" y="4959"/>
                    <a:pt x="3347223" y="11076"/>
                  </a:cubicBezTo>
                  <a:lnTo>
                    <a:pt x="3347223" y="2451890"/>
                  </a:lnTo>
                  <a:cubicBezTo>
                    <a:pt x="3347223" y="2458007"/>
                    <a:pt x="3342265" y="2462966"/>
                    <a:pt x="3336148" y="2462966"/>
                  </a:cubicBezTo>
                  <a:lnTo>
                    <a:pt x="11076" y="2462966"/>
                  </a:lnTo>
                  <a:cubicBezTo>
                    <a:pt x="4959" y="2462966"/>
                    <a:pt x="0" y="2458007"/>
                    <a:pt x="0" y="2451890"/>
                  </a:cubicBezTo>
                  <a:lnTo>
                    <a:pt x="0" y="11076"/>
                  </a:lnTo>
                  <a:cubicBezTo>
                    <a:pt x="0" y="4959"/>
                    <a:pt x="4959" y="0"/>
                    <a:pt x="11076" y="0"/>
                  </a:cubicBezTo>
                  <a:close/>
                </a:path>
              </a:pathLst>
            </a:custGeom>
            <a:solidFill>
              <a:srgbClr val="04001e"/>
            </a:solidFill>
            <a:ln cap="sq" w="38100">
              <a:solidFill>
                <a:srgbClr val="e5e1d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" name="TextBox 7"/>
            <p:cNvSpPr/>
            <p:nvPr/>
          </p:nvSpPr>
          <p:spPr>
            <a:xfrm>
              <a:off x="4485240" y="-159120"/>
              <a:ext cx="13979880" cy="104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5800" rIns="55800" tIns="55800" bIns="5580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1" name="Group 8"/>
          <p:cNvGrpSpPr/>
          <p:nvPr/>
        </p:nvGrpSpPr>
        <p:grpSpPr>
          <a:xfrm>
            <a:off x="16992720" y="-1534680"/>
            <a:ext cx="6262200" cy="15772680"/>
            <a:chOff x="16992720" y="-1534680"/>
            <a:chExt cx="6262200" cy="15772680"/>
          </a:xfrm>
        </p:grpSpPr>
        <p:sp>
          <p:nvSpPr>
            <p:cNvPr id="82" name="AutoShape 9"/>
            <p:cNvSpPr/>
            <p:nvPr/>
          </p:nvSpPr>
          <p:spPr>
            <a:xfrm flipV="1">
              <a:off x="17430480" y="-1534680"/>
              <a:ext cx="360" cy="15772680"/>
            </a:xfrm>
            <a:prstGeom prst="line">
              <a:avLst/>
            </a:prstGeom>
            <a:ln w="25400">
              <a:solidFill>
                <a:srgbClr val="f4f4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83" name="Group 10"/>
            <p:cNvGrpSpPr/>
            <p:nvPr/>
          </p:nvGrpSpPr>
          <p:grpSpPr>
            <a:xfrm>
              <a:off x="16992720" y="8300160"/>
              <a:ext cx="875880" cy="394200"/>
              <a:chOff x="16992720" y="8300160"/>
              <a:chExt cx="875880" cy="394200"/>
            </a:xfrm>
          </p:grpSpPr>
          <p:sp>
            <p:nvSpPr>
              <p:cNvPr id="84" name="Freeform 11"/>
              <p:cNvSpPr/>
              <p:nvPr/>
            </p:nvSpPr>
            <p:spPr>
              <a:xfrm rot="16200000">
                <a:off x="17233560" y="8059320"/>
                <a:ext cx="394200" cy="875880"/>
              </a:xfrm>
              <a:custGeom>
                <a:avLst/>
                <a:gdLst>
                  <a:gd name="textAreaLeft" fmla="*/ 0 w 394200"/>
                  <a:gd name="textAreaRight" fmla="*/ 394560 w 394200"/>
                  <a:gd name="textAreaTop" fmla="*/ 0 h 875880"/>
                  <a:gd name="textAreaBottom" fmla="*/ 876240 h 875880"/>
                </a:gdLst>
                <a:ahLst/>
                <a:rect l="textAreaLeft" t="textAreaTop" r="textAreaRight" b="textAreaBottom"/>
                <a:pathLst>
                  <a:path w="812800" h="1803925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" name="TextBox 12"/>
              <p:cNvSpPr/>
              <p:nvPr/>
            </p:nvSpPr>
            <p:spPr>
              <a:xfrm rot="16200000">
                <a:off x="17334720" y="8273880"/>
                <a:ext cx="209520" cy="44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265"/>
                  </a:lnSpc>
                  <a:tabLst>
                    <a:tab algn="l" pos="0"/>
                  </a:tabLst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grpSp>
          <p:nvGrpSpPr>
            <p:cNvPr id="86" name="Group 13"/>
            <p:cNvGrpSpPr/>
            <p:nvPr/>
          </p:nvGrpSpPr>
          <p:grpSpPr>
            <a:xfrm>
              <a:off x="16992720" y="5514480"/>
              <a:ext cx="875880" cy="394200"/>
              <a:chOff x="16992720" y="5514480"/>
              <a:chExt cx="875880" cy="394200"/>
            </a:xfrm>
          </p:grpSpPr>
          <p:sp>
            <p:nvSpPr>
              <p:cNvPr id="87" name="Freeform 14"/>
              <p:cNvSpPr/>
              <p:nvPr/>
            </p:nvSpPr>
            <p:spPr>
              <a:xfrm rot="16200000">
                <a:off x="17233560" y="5273640"/>
                <a:ext cx="394200" cy="875880"/>
              </a:xfrm>
              <a:custGeom>
                <a:avLst/>
                <a:gdLst>
                  <a:gd name="textAreaLeft" fmla="*/ 0 w 394200"/>
                  <a:gd name="textAreaRight" fmla="*/ 394560 w 394200"/>
                  <a:gd name="textAreaTop" fmla="*/ 0 h 875880"/>
                  <a:gd name="textAreaBottom" fmla="*/ 876240 h 875880"/>
                </a:gdLst>
                <a:ahLst/>
                <a:rect l="textAreaLeft" t="textAreaTop" r="textAreaRight" b="textAreaBottom"/>
                <a:pathLst>
                  <a:path w="812800" h="1803925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8" name="TextBox 15"/>
              <p:cNvSpPr/>
              <p:nvPr/>
            </p:nvSpPr>
            <p:spPr>
              <a:xfrm rot="16200000">
                <a:off x="17334720" y="5488200"/>
                <a:ext cx="209520" cy="44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265"/>
                  </a:lnSpc>
                  <a:tabLst>
                    <a:tab algn="l" pos="0"/>
                  </a:tabLst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grpSp>
          <p:nvGrpSpPr>
            <p:cNvPr id="89" name="Group 16"/>
            <p:cNvGrpSpPr/>
            <p:nvPr/>
          </p:nvGrpSpPr>
          <p:grpSpPr>
            <a:xfrm>
              <a:off x="16992720" y="2614320"/>
              <a:ext cx="875880" cy="394200"/>
              <a:chOff x="16992720" y="2614320"/>
              <a:chExt cx="875880" cy="394200"/>
            </a:xfrm>
          </p:grpSpPr>
          <p:sp>
            <p:nvSpPr>
              <p:cNvPr id="90" name="Freeform 17"/>
              <p:cNvSpPr/>
              <p:nvPr/>
            </p:nvSpPr>
            <p:spPr>
              <a:xfrm rot="16200000">
                <a:off x="17233560" y="2373480"/>
                <a:ext cx="394200" cy="875880"/>
              </a:xfrm>
              <a:custGeom>
                <a:avLst/>
                <a:gdLst>
                  <a:gd name="textAreaLeft" fmla="*/ 0 w 394200"/>
                  <a:gd name="textAreaRight" fmla="*/ 394560 w 394200"/>
                  <a:gd name="textAreaTop" fmla="*/ 0 h 875880"/>
                  <a:gd name="textAreaBottom" fmla="*/ 876240 h 875880"/>
                </a:gdLst>
                <a:ahLst/>
                <a:rect l="textAreaLeft" t="textAreaTop" r="textAreaRight" b="textAreaBottom"/>
                <a:pathLst>
                  <a:path w="812800" h="1803925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1" name="TextBox 18"/>
              <p:cNvSpPr/>
              <p:nvPr/>
            </p:nvSpPr>
            <p:spPr>
              <a:xfrm rot="16200000">
                <a:off x="17334720" y="2588040"/>
                <a:ext cx="209520" cy="44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265"/>
                  </a:lnSpc>
                  <a:tabLst>
                    <a:tab algn="l" pos="0"/>
                  </a:tabLst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92" name="TextBox 19"/>
            <p:cNvSpPr/>
            <p:nvPr/>
          </p:nvSpPr>
          <p:spPr>
            <a:xfrm>
              <a:off x="18378720" y="2491560"/>
              <a:ext cx="4876200" cy="134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5151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ts val="5151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3" name="TextBox 20"/>
          <p:cNvSpPr/>
          <p:nvPr/>
        </p:nvSpPr>
        <p:spPr>
          <a:xfrm>
            <a:off x="4485240" y="200160"/>
            <a:ext cx="7374600" cy="12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604"/>
              </a:lnSpc>
            </a:pPr>
            <a:r>
              <a:rPr b="0" lang="en-US" sz="9900" spc="-1" strike="noStrike">
                <a:solidFill>
                  <a:srgbClr val="f4f4ed"/>
                </a:solidFill>
                <a:latin typeface="Archivo Black"/>
                <a:ea typeface="Archivo Black"/>
              </a:rPr>
              <a:t>Dharambir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1"/>
          <p:cNvSpPr/>
          <p:nvPr/>
        </p:nvSpPr>
        <p:spPr>
          <a:xfrm>
            <a:off x="4195800" y="1864440"/>
            <a:ext cx="10945800" cy="81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946440" indent="-473400" defTabSz="914400">
              <a:lnSpc>
                <a:spcPts val="5919"/>
              </a:lnSpc>
              <a:spcBef>
                <a:spcPts val="1191"/>
              </a:spcBef>
              <a:spcAft>
                <a:spcPts val="992"/>
              </a:spcAft>
              <a:buClr>
                <a:srgbClr val="f4f4ed"/>
              </a:buClr>
              <a:buFont typeface="Arial"/>
              <a:buChar char="•"/>
            </a:pPr>
            <a:r>
              <a:rPr b="0" lang="en-US" sz="4390" spc="262" strike="noStrike">
                <a:solidFill>
                  <a:srgbClr val="f4f4ed"/>
                </a:solidFill>
                <a:latin typeface="Red Hat Display"/>
                <a:ea typeface="Red Hat Display"/>
              </a:rPr>
              <a:t>Designed and implemented the graphical user interface for the loan management system.</a:t>
            </a:r>
            <a:endParaRPr b="0" lang="en-US" sz="4390" spc="-1" strike="noStrike">
              <a:solidFill>
                <a:srgbClr val="000000"/>
              </a:solidFill>
              <a:latin typeface="Arial"/>
            </a:endParaRPr>
          </a:p>
          <a:p>
            <a:pPr lvl="1" marL="946440" indent="-473400" defTabSz="914400">
              <a:lnSpc>
                <a:spcPts val="5919"/>
              </a:lnSpc>
              <a:spcBef>
                <a:spcPts val="1191"/>
              </a:spcBef>
              <a:spcAft>
                <a:spcPts val="992"/>
              </a:spcAft>
              <a:buClr>
                <a:srgbClr val="f4f4ed"/>
              </a:buClr>
              <a:buFont typeface="Arial"/>
              <a:buChar char="•"/>
            </a:pPr>
            <a:r>
              <a:rPr b="0" lang="en-US" sz="4390" spc="262" strike="noStrike">
                <a:solidFill>
                  <a:srgbClr val="f4f4ed"/>
                </a:solidFill>
                <a:latin typeface="Red Hat Display"/>
                <a:ea typeface="Red Hat Display"/>
              </a:rPr>
              <a:t> </a:t>
            </a:r>
            <a:r>
              <a:rPr b="0" lang="en-US" sz="4390" spc="262" strike="noStrike">
                <a:solidFill>
                  <a:srgbClr val="f4f4ed"/>
                </a:solidFill>
                <a:latin typeface="Red Hat Display"/>
                <a:ea typeface="Red Hat Display"/>
              </a:rPr>
              <a:t>Connected user inputs with backend validation and loan calculation functions.</a:t>
            </a:r>
            <a:endParaRPr b="0" lang="en-US" sz="4390" spc="-1" strike="noStrike">
              <a:solidFill>
                <a:srgbClr val="000000"/>
              </a:solidFill>
              <a:latin typeface="Arial"/>
            </a:endParaRPr>
          </a:p>
          <a:p>
            <a:pPr lvl="1" marL="946440" indent="-473400" defTabSz="914400">
              <a:lnSpc>
                <a:spcPts val="5919"/>
              </a:lnSpc>
              <a:spcBef>
                <a:spcPts val="1191"/>
              </a:spcBef>
              <a:spcAft>
                <a:spcPts val="992"/>
              </a:spcAft>
              <a:buClr>
                <a:srgbClr val="f4f4ed"/>
              </a:buClr>
              <a:buFont typeface="Arial"/>
              <a:buChar char="•"/>
            </a:pPr>
            <a:r>
              <a:rPr b="0" lang="en-US" sz="4390" spc="262" strike="noStrike">
                <a:solidFill>
                  <a:srgbClr val="f4f4ed"/>
                </a:solidFill>
                <a:latin typeface="Red Hat Display"/>
                <a:ea typeface="Red Hat Display"/>
              </a:rPr>
              <a:t> </a:t>
            </a:r>
            <a:r>
              <a:rPr b="0" lang="en-US" sz="4390" spc="262" strike="noStrike">
                <a:solidFill>
                  <a:srgbClr val="f4f4ed"/>
                </a:solidFill>
                <a:latin typeface="Red Hat Display"/>
                <a:ea typeface="Red Hat Display"/>
              </a:rPr>
              <a:t>Enabled users to view, save, and manage loan transactions through an intuitive interface..</a:t>
            </a:r>
            <a:endParaRPr b="0" lang="en-US" sz="43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5919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Freeform 3"/>
          <p:cNvSpPr/>
          <p:nvPr/>
        </p:nvSpPr>
        <p:spPr>
          <a:xfrm flipH="1" rot="6627000">
            <a:off x="-1914840" y="732240"/>
            <a:ext cx="12220920" cy="8822520"/>
          </a:xfrm>
          <a:custGeom>
            <a:avLst/>
            <a:gdLst>
              <a:gd name="textAreaLeft" fmla="*/ -360 w 12220920"/>
              <a:gd name="textAreaRight" fmla="*/ 12220920 w 12220920"/>
              <a:gd name="textAreaTop" fmla="*/ 0 h 8822520"/>
              <a:gd name="textAreaBottom" fmla="*/ 8822880 h 8822520"/>
            </a:gdLst>
            <a:ahLst/>
            <a:rect l="textAreaLeft" t="textAreaTop" r="textAreaRight" b="textAreaBottom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reeform 4"/>
          <p:cNvSpPr/>
          <p:nvPr/>
        </p:nvSpPr>
        <p:spPr>
          <a:xfrm>
            <a:off x="16362720" y="8130240"/>
            <a:ext cx="896040" cy="896040"/>
          </a:xfrm>
          <a:custGeom>
            <a:avLst/>
            <a:gdLst>
              <a:gd name="textAreaLeft" fmla="*/ 0 w 896040"/>
              <a:gd name="textAreaRight" fmla="*/ 896400 w 896040"/>
              <a:gd name="textAreaTop" fmla="*/ 0 h 896040"/>
              <a:gd name="textAreaBottom" fmla="*/ 896400 h 896040"/>
            </a:gdLst>
            <a:ahLst/>
            <a:rect l="textAreaLeft" t="textAreaTop" r="textAreaRight" b="textAreaBottom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8" name="Group 5"/>
          <p:cNvGrpSpPr/>
          <p:nvPr/>
        </p:nvGrpSpPr>
        <p:grpSpPr>
          <a:xfrm>
            <a:off x="5281920" y="-862200"/>
            <a:ext cx="14019480" cy="11514240"/>
            <a:chOff x="5281920" y="-862200"/>
            <a:chExt cx="14019480" cy="11514240"/>
          </a:xfrm>
        </p:grpSpPr>
        <p:grpSp>
          <p:nvGrpSpPr>
            <p:cNvPr id="99" name="Group 6"/>
            <p:cNvGrpSpPr/>
            <p:nvPr/>
          </p:nvGrpSpPr>
          <p:grpSpPr>
            <a:xfrm>
              <a:off x="5281920" y="-862200"/>
              <a:ext cx="14019480" cy="11382840"/>
              <a:chOff x="5281920" y="-862200"/>
              <a:chExt cx="14019480" cy="11382840"/>
            </a:xfrm>
          </p:grpSpPr>
          <p:sp>
            <p:nvSpPr>
              <p:cNvPr id="100" name="Freeform 7"/>
              <p:cNvSpPr/>
              <p:nvPr/>
            </p:nvSpPr>
            <p:spPr>
              <a:xfrm>
                <a:off x="5281920" y="-611280"/>
                <a:ext cx="14019480" cy="11131920"/>
              </a:xfrm>
              <a:custGeom>
                <a:avLst/>
                <a:gdLst>
                  <a:gd name="textAreaLeft" fmla="*/ 0 w 14019480"/>
                  <a:gd name="textAreaRight" fmla="*/ 14019840 w 14019480"/>
                  <a:gd name="textAreaTop" fmla="*/ 0 h 11131920"/>
                  <a:gd name="textAreaBottom" fmla="*/ 11132280 h 11131920"/>
                </a:gdLst>
                <a:ahLst/>
                <a:rect l="textAreaLeft" t="textAreaTop" r="textAreaRight" b="textAreaBottom"/>
                <a:pathLst>
                  <a:path w="2129666" h="1691031">
                    <a:moveTo>
                      <a:pt x="19149" y="0"/>
                    </a:moveTo>
                    <a:lnTo>
                      <a:pt x="2110517" y="0"/>
                    </a:lnTo>
                    <a:cubicBezTo>
                      <a:pt x="2115595" y="0"/>
                      <a:pt x="2120466" y="2017"/>
                      <a:pt x="2124057" y="5609"/>
                    </a:cubicBezTo>
                    <a:cubicBezTo>
                      <a:pt x="2127648" y="9200"/>
                      <a:pt x="2129666" y="14070"/>
                      <a:pt x="2129666" y="19149"/>
                    </a:cubicBezTo>
                    <a:lnTo>
                      <a:pt x="2129666" y="1671883"/>
                    </a:lnTo>
                    <a:cubicBezTo>
                      <a:pt x="2129666" y="1676961"/>
                      <a:pt x="2127648" y="1681832"/>
                      <a:pt x="2124057" y="1685423"/>
                    </a:cubicBezTo>
                    <a:cubicBezTo>
                      <a:pt x="2120466" y="1689014"/>
                      <a:pt x="2115595" y="1691031"/>
                      <a:pt x="2110517" y="1691031"/>
                    </a:cubicBezTo>
                    <a:lnTo>
                      <a:pt x="19149" y="1691031"/>
                    </a:lnTo>
                    <a:cubicBezTo>
                      <a:pt x="14070" y="1691031"/>
                      <a:pt x="9200" y="1689014"/>
                      <a:pt x="5609" y="1685423"/>
                    </a:cubicBezTo>
                    <a:cubicBezTo>
                      <a:pt x="2017" y="1681832"/>
                      <a:pt x="0" y="1676961"/>
                      <a:pt x="0" y="1671883"/>
                    </a:cubicBezTo>
                    <a:lnTo>
                      <a:pt x="0" y="19149"/>
                    </a:lnTo>
                    <a:cubicBezTo>
                      <a:pt x="0" y="14070"/>
                      <a:pt x="2017" y="9200"/>
                      <a:pt x="5609" y="5609"/>
                    </a:cubicBezTo>
                    <a:cubicBezTo>
                      <a:pt x="9200" y="2017"/>
                      <a:pt x="14070" y="0"/>
                      <a:pt x="19149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cap="sq" w="38100">
                <a:solidFill>
                  <a:srgbClr val="e5e1d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1" name="TextBox 8"/>
              <p:cNvSpPr/>
              <p:nvPr/>
            </p:nvSpPr>
            <p:spPr>
              <a:xfrm>
                <a:off x="5281920" y="-862200"/>
                <a:ext cx="14019480" cy="11382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102" name="TextBox 9"/>
            <p:cNvSpPr/>
            <p:nvPr/>
          </p:nvSpPr>
          <p:spPr>
            <a:xfrm>
              <a:off x="6279120" y="834840"/>
              <a:ext cx="11623680" cy="19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5137"/>
                </a:lnSpc>
              </a:pPr>
              <a:r>
                <a:rPr b="0" lang="en-US" sz="15600" spc="-1" strike="noStrike">
                  <a:solidFill>
                    <a:srgbClr val="f4f4ed"/>
                  </a:solidFill>
                  <a:latin typeface="Archivo Black"/>
                  <a:ea typeface="Archivo Black"/>
                </a:rPr>
                <a:t>Uzoma</a:t>
              </a:r>
              <a:endParaRPr b="0" lang="en-US" sz="15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TextBox 10"/>
            <p:cNvSpPr/>
            <p:nvPr/>
          </p:nvSpPr>
          <p:spPr>
            <a:xfrm>
              <a:off x="6279120" y="2757600"/>
              <a:ext cx="10506960" cy="789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908640" indent="-454320" defTabSz="914400">
                <a:lnSpc>
                  <a:spcPts val="5681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4f4ed"/>
                </a:buClr>
                <a:buFont typeface="Arial"/>
                <a:buChar char="•"/>
              </a:pPr>
              <a:r>
                <a:rPr b="0" lang="en-US" sz="4210" spc="250" strike="noStrike">
                  <a:solidFill>
                    <a:srgbClr val="f4f4ed"/>
                  </a:solidFill>
                  <a:latin typeface="Red Hat Display"/>
                  <a:ea typeface="Red Hat Display"/>
                </a:rPr>
                <a:t>Developed the input validation system to ensure accurate and reliable user data entry.</a:t>
              </a:r>
              <a:endParaRPr b="0" lang="en-US" sz="421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908640" indent="-454320" defTabSz="914400">
                <a:lnSpc>
                  <a:spcPts val="5681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4f4ed"/>
                </a:buClr>
                <a:buFont typeface="Arial"/>
                <a:buChar char="•"/>
              </a:pPr>
              <a:r>
                <a:rPr b="0" lang="en-US" sz="4210" spc="250" strike="noStrike">
                  <a:solidFill>
                    <a:srgbClr val="f4f4ed"/>
                  </a:solidFill>
                  <a:latin typeface="Red Hat Display"/>
                  <a:ea typeface="Red Hat Display"/>
                </a:rPr>
                <a:t>Implemented checks for loan amount limits, term ranges, and income constraints.</a:t>
              </a:r>
              <a:endParaRPr b="0" lang="en-US" sz="421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908640" indent="-454320" defTabSz="914400">
                <a:lnSpc>
                  <a:spcPts val="5681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4f4ed"/>
                </a:buClr>
                <a:buFont typeface="Arial"/>
                <a:buChar char="•"/>
              </a:pPr>
              <a:r>
                <a:rPr b="0" lang="en-US" sz="4210" spc="250" strike="noStrike">
                  <a:solidFill>
                    <a:srgbClr val="f4f4ed"/>
                  </a:solidFill>
                  <a:latin typeface="Red Hat Display"/>
                  <a:ea typeface="Red Hat Display"/>
                </a:rPr>
                <a:t>Added clear error messages and guided prompts to help users correct invalid inputs.</a:t>
              </a:r>
              <a:endParaRPr b="0" lang="en-US" sz="421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ts val="5681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4" name="Group 11"/>
          <p:cNvGrpSpPr/>
          <p:nvPr/>
        </p:nvGrpSpPr>
        <p:grpSpPr>
          <a:xfrm>
            <a:off x="17259120" y="4084200"/>
            <a:ext cx="6262560" cy="6202800"/>
            <a:chOff x="17259120" y="4084200"/>
            <a:chExt cx="6262560" cy="6202800"/>
          </a:xfrm>
        </p:grpSpPr>
        <p:grpSp>
          <p:nvGrpSpPr>
            <p:cNvPr id="105" name="Group 12"/>
            <p:cNvGrpSpPr/>
            <p:nvPr/>
          </p:nvGrpSpPr>
          <p:grpSpPr>
            <a:xfrm>
              <a:off x="17259120" y="9892800"/>
              <a:ext cx="875880" cy="394200"/>
              <a:chOff x="17259120" y="9892800"/>
              <a:chExt cx="875880" cy="394200"/>
            </a:xfrm>
          </p:grpSpPr>
          <p:sp>
            <p:nvSpPr>
              <p:cNvPr id="106" name="Freeform 13"/>
              <p:cNvSpPr/>
              <p:nvPr/>
            </p:nvSpPr>
            <p:spPr>
              <a:xfrm rot="16200000">
                <a:off x="17499960" y="9651960"/>
                <a:ext cx="394200" cy="875880"/>
              </a:xfrm>
              <a:custGeom>
                <a:avLst/>
                <a:gdLst>
                  <a:gd name="textAreaLeft" fmla="*/ 0 w 394200"/>
                  <a:gd name="textAreaRight" fmla="*/ 394560 w 394200"/>
                  <a:gd name="textAreaTop" fmla="*/ 0 h 875880"/>
                  <a:gd name="textAreaBottom" fmla="*/ 876240 h 875880"/>
                </a:gdLst>
                <a:ahLst/>
                <a:rect l="textAreaLeft" t="textAreaTop" r="textAreaRight" b="textAreaBottom"/>
                <a:pathLst>
                  <a:path w="812800" h="1803925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7" name="TextBox 14"/>
              <p:cNvSpPr/>
              <p:nvPr/>
            </p:nvSpPr>
            <p:spPr>
              <a:xfrm rot="16200000">
                <a:off x="17601480" y="9866520"/>
                <a:ext cx="209520" cy="44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265"/>
                  </a:lnSpc>
                  <a:tabLst>
                    <a:tab algn="l" pos="0"/>
                  </a:tabLst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grpSp>
          <p:nvGrpSpPr>
            <p:cNvPr id="108" name="Group 15"/>
            <p:cNvGrpSpPr/>
            <p:nvPr/>
          </p:nvGrpSpPr>
          <p:grpSpPr>
            <a:xfrm>
              <a:off x="17259120" y="7107480"/>
              <a:ext cx="875880" cy="394200"/>
              <a:chOff x="17259120" y="7107480"/>
              <a:chExt cx="875880" cy="394200"/>
            </a:xfrm>
          </p:grpSpPr>
          <p:sp>
            <p:nvSpPr>
              <p:cNvPr id="109" name="Freeform 16"/>
              <p:cNvSpPr/>
              <p:nvPr/>
            </p:nvSpPr>
            <p:spPr>
              <a:xfrm rot="16200000">
                <a:off x="17499960" y="6866640"/>
                <a:ext cx="394200" cy="875880"/>
              </a:xfrm>
              <a:custGeom>
                <a:avLst/>
                <a:gdLst>
                  <a:gd name="textAreaLeft" fmla="*/ 0 w 394200"/>
                  <a:gd name="textAreaRight" fmla="*/ 394560 w 394200"/>
                  <a:gd name="textAreaTop" fmla="*/ 0 h 875880"/>
                  <a:gd name="textAreaBottom" fmla="*/ 876240 h 875880"/>
                </a:gdLst>
                <a:ahLst/>
                <a:rect l="textAreaLeft" t="textAreaTop" r="textAreaRight" b="textAreaBottom"/>
                <a:pathLst>
                  <a:path w="812800" h="1803925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" name="TextBox 17"/>
              <p:cNvSpPr/>
              <p:nvPr/>
            </p:nvSpPr>
            <p:spPr>
              <a:xfrm rot="16200000">
                <a:off x="17601480" y="7081200"/>
                <a:ext cx="209520" cy="44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265"/>
                  </a:lnSpc>
                  <a:tabLst>
                    <a:tab algn="l" pos="0"/>
                  </a:tabLst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grpSp>
          <p:nvGrpSpPr>
            <p:cNvPr id="111" name="Group 18"/>
            <p:cNvGrpSpPr/>
            <p:nvPr/>
          </p:nvGrpSpPr>
          <p:grpSpPr>
            <a:xfrm>
              <a:off x="17259120" y="4206960"/>
              <a:ext cx="875880" cy="394200"/>
              <a:chOff x="17259120" y="4206960"/>
              <a:chExt cx="875880" cy="394200"/>
            </a:xfrm>
          </p:grpSpPr>
          <p:sp>
            <p:nvSpPr>
              <p:cNvPr id="112" name="Freeform 19"/>
              <p:cNvSpPr/>
              <p:nvPr/>
            </p:nvSpPr>
            <p:spPr>
              <a:xfrm rot="16200000">
                <a:off x="17499960" y="3966120"/>
                <a:ext cx="394200" cy="875880"/>
              </a:xfrm>
              <a:custGeom>
                <a:avLst/>
                <a:gdLst>
                  <a:gd name="textAreaLeft" fmla="*/ 0 w 394200"/>
                  <a:gd name="textAreaRight" fmla="*/ 394560 w 394200"/>
                  <a:gd name="textAreaTop" fmla="*/ 0 h 875880"/>
                  <a:gd name="textAreaBottom" fmla="*/ 876240 h 875880"/>
                </a:gdLst>
                <a:ahLst/>
                <a:rect l="textAreaLeft" t="textAreaTop" r="textAreaRight" b="textAreaBottom"/>
                <a:pathLst>
                  <a:path w="812800" h="1803925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" name="TextBox 20"/>
              <p:cNvSpPr/>
              <p:nvPr/>
            </p:nvSpPr>
            <p:spPr>
              <a:xfrm rot="16200000">
                <a:off x="17601480" y="4180680"/>
                <a:ext cx="209520" cy="446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265"/>
                  </a:lnSpc>
                  <a:tabLst>
                    <a:tab algn="l" pos="0"/>
                  </a:tabLst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114" name="TextBox 21"/>
            <p:cNvSpPr/>
            <p:nvPr/>
          </p:nvSpPr>
          <p:spPr>
            <a:xfrm>
              <a:off x="18645480" y="4084200"/>
              <a:ext cx="4876200" cy="134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5151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ts val="5151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Freeform 3"/>
          <p:cNvSpPr/>
          <p:nvPr/>
        </p:nvSpPr>
        <p:spPr>
          <a:xfrm flipH="1" rot="6627000">
            <a:off x="-1914840" y="732240"/>
            <a:ext cx="12220920" cy="8822520"/>
          </a:xfrm>
          <a:custGeom>
            <a:avLst/>
            <a:gdLst>
              <a:gd name="textAreaLeft" fmla="*/ -360 w 12220920"/>
              <a:gd name="textAreaRight" fmla="*/ 12220920 w 12220920"/>
              <a:gd name="textAreaTop" fmla="*/ 0 h 8822520"/>
              <a:gd name="textAreaBottom" fmla="*/ 8822880 h 8822520"/>
            </a:gdLst>
            <a:ahLst/>
            <a:rect l="textAreaLeft" t="textAreaTop" r="textAreaRight" b="textAreaBottom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Freeform 4"/>
          <p:cNvSpPr/>
          <p:nvPr/>
        </p:nvSpPr>
        <p:spPr>
          <a:xfrm>
            <a:off x="16362720" y="8130240"/>
            <a:ext cx="896040" cy="896040"/>
          </a:xfrm>
          <a:custGeom>
            <a:avLst/>
            <a:gdLst>
              <a:gd name="textAreaLeft" fmla="*/ 0 w 896040"/>
              <a:gd name="textAreaRight" fmla="*/ 896400 w 896040"/>
              <a:gd name="textAreaTop" fmla="*/ 0 h 896040"/>
              <a:gd name="textAreaBottom" fmla="*/ 896400 h 896040"/>
            </a:gdLst>
            <a:ahLst/>
            <a:rect l="textAreaLeft" t="textAreaTop" r="textAreaRight" b="textAreaBottom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8" name="Group 5"/>
          <p:cNvGrpSpPr/>
          <p:nvPr/>
        </p:nvGrpSpPr>
        <p:grpSpPr>
          <a:xfrm>
            <a:off x="-95400" y="-1283760"/>
            <a:ext cx="17926200" cy="12889440"/>
            <a:chOff x="-95400" y="-1283760"/>
            <a:chExt cx="17926200" cy="12889440"/>
          </a:xfrm>
        </p:grpSpPr>
        <p:grpSp>
          <p:nvGrpSpPr>
            <p:cNvPr id="119" name="Group 6"/>
            <p:cNvGrpSpPr/>
            <p:nvPr/>
          </p:nvGrpSpPr>
          <p:grpSpPr>
            <a:xfrm>
              <a:off x="-95400" y="-1283760"/>
              <a:ext cx="17926200" cy="12485160"/>
              <a:chOff x="-95400" y="-1283760"/>
              <a:chExt cx="17926200" cy="12485160"/>
            </a:xfrm>
          </p:grpSpPr>
          <p:sp>
            <p:nvSpPr>
              <p:cNvPr id="120" name="Freeform 7"/>
              <p:cNvSpPr/>
              <p:nvPr/>
            </p:nvSpPr>
            <p:spPr>
              <a:xfrm>
                <a:off x="-95400" y="-963000"/>
                <a:ext cx="17926200" cy="12164400"/>
              </a:xfrm>
              <a:custGeom>
                <a:avLst/>
                <a:gdLst>
                  <a:gd name="textAreaLeft" fmla="*/ 0 w 17926200"/>
                  <a:gd name="textAreaRight" fmla="*/ 17926560 w 17926200"/>
                  <a:gd name="textAreaTop" fmla="*/ 0 h 12164400"/>
                  <a:gd name="textAreaBottom" fmla="*/ 12164760 h 12164400"/>
                </a:gdLst>
                <a:ahLst/>
                <a:rect l="textAreaLeft" t="textAreaTop" r="textAreaRight" b="textAreaBottom"/>
                <a:pathLst>
                  <a:path w="2129666" h="1445191">
                    <a:moveTo>
                      <a:pt x="19149" y="0"/>
                    </a:moveTo>
                    <a:lnTo>
                      <a:pt x="2110517" y="0"/>
                    </a:lnTo>
                    <a:cubicBezTo>
                      <a:pt x="2115595" y="0"/>
                      <a:pt x="2120466" y="2017"/>
                      <a:pt x="2124057" y="5609"/>
                    </a:cubicBezTo>
                    <a:cubicBezTo>
                      <a:pt x="2127648" y="9200"/>
                      <a:pt x="2129666" y="14070"/>
                      <a:pt x="2129666" y="19149"/>
                    </a:cubicBezTo>
                    <a:lnTo>
                      <a:pt x="2129666" y="1426042"/>
                    </a:lnTo>
                    <a:cubicBezTo>
                      <a:pt x="2129666" y="1431121"/>
                      <a:pt x="2127648" y="1435991"/>
                      <a:pt x="2124057" y="1439582"/>
                    </a:cubicBezTo>
                    <a:cubicBezTo>
                      <a:pt x="2120466" y="1443174"/>
                      <a:pt x="2115595" y="1445191"/>
                      <a:pt x="2110517" y="1445191"/>
                    </a:cubicBezTo>
                    <a:lnTo>
                      <a:pt x="19149" y="1445191"/>
                    </a:lnTo>
                    <a:cubicBezTo>
                      <a:pt x="14070" y="1445191"/>
                      <a:pt x="9200" y="1443174"/>
                      <a:pt x="5609" y="1439582"/>
                    </a:cubicBezTo>
                    <a:cubicBezTo>
                      <a:pt x="2017" y="1435991"/>
                      <a:pt x="0" y="1431121"/>
                      <a:pt x="0" y="1426042"/>
                    </a:cubicBezTo>
                    <a:lnTo>
                      <a:pt x="0" y="19149"/>
                    </a:lnTo>
                    <a:cubicBezTo>
                      <a:pt x="0" y="14070"/>
                      <a:pt x="2017" y="9200"/>
                      <a:pt x="5609" y="5609"/>
                    </a:cubicBezTo>
                    <a:cubicBezTo>
                      <a:pt x="9200" y="2017"/>
                      <a:pt x="14070" y="0"/>
                      <a:pt x="19149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cap="sq" w="38100">
                <a:solidFill>
                  <a:srgbClr val="e5e1d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21" name="TextBox 8"/>
              <p:cNvSpPr/>
              <p:nvPr/>
            </p:nvSpPr>
            <p:spPr>
              <a:xfrm>
                <a:off x="-95400" y="-1283760"/>
                <a:ext cx="17926200" cy="12485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122" name="TextBox 9"/>
            <p:cNvSpPr/>
            <p:nvPr/>
          </p:nvSpPr>
          <p:spPr>
            <a:xfrm>
              <a:off x="588960" y="580320"/>
              <a:ext cx="14862600" cy="245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19352"/>
                </a:lnSpc>
              </a:pPr>
              <a:r>
                <a:rPr b="0" lang="en-US" sz="19950" spc="-1" strike="noStrike">
                  <a:solidFill>
                    <a:srgbClr val="f4f4ed"/>
                  </a:solidFill>
                  <a:latin typeface="Archivo Black"/>
                  <a:ea typeface="Archivo Black"/>
                </a:rPr>
                <a:t>Kelvin</a:t>
              </a:r>
              <a:endParaRPr b="0" lang="en-US" sz="199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TextBox 10"/>
            <p:cNvSpPr/>
            <p:nvPr/>
          </p:nvSpPr>
          <p:spPr>
            <a:xfrm rot="2400">
              <a:off x="735120" y="3205080"/>
              <a:ext cx="13434840" cy="839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1118160" indent="-559080" defTabSz="914400">
                <a:lnSpc>
                  <a:spcPts val="6993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4f4ed"/>
                </a:buClr>
                <a:buFont typeface="Arial"/>
                <a:buChar char="•"/>
              </a:pPr>
              <a:r>
                <a:rPr b="0" lang="en-US" sz="5180" spc="307" strike="noStrike">
                  <a:solidFill>
                    <a:srgbClr val="f4f4ed"/>
                  </a:solidFill>
                  <a:latin typeface="Red Hat Display"/>
                  <a:ea typeface="Red Hat Display"/>
                </a:rPr>
                <a:t>Developed the core loan calculation logic to compute monthly payments and total interest.</a:t>
              </a:r>
              <a:endParaRPr b="0" lang="en-US" sz="518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1118160" indent="-559080" defTabSz="914400">
                <a:lnSpc>
                  <a:spcPts val="6993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4f4ed"/>
                </a:buClr>
                <a:buFont typeface="Arial"/>
                <a:buChar char="•"/>
              </a:pPr>
              <a:r>
                <a:rPr b="0" lang="en-US" sz="5180" spc="307" strike="noStrike">
                  <a:solidFill>
                    <a:srgbClr val="f4f4ed"/>
                  </a:solidFill>
                  <a:latin typeface="Red Hat Display"/>
                  <a:ea typeface="Red Hat Display"/>
                </a:rPr>
                <a:t>Ensured compliance with the 50% debt ratio rule and enabled dynamic term adjustments for loan eligibility.</a:t>
              </a:r>
              <a:endParaRPr b="0" lang="en-US" sz="518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ts val="6993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5" name="Group 3"/>
          <p:cNvGrpSpPr/>
          <p:nvPr/>
        </p:nvGrpSpPr>
        <p:grpSpPr>
          <a:xfrm>
            <a:off x="-228600" y="-369360"/>
            <a:ext cx="10283760" cy="6998760"/>
            <a:chOff x="-228600" y="-369360"/>
            <a:chExt cx="10283760" cy="6998760"/>
          </a:xfrm>
        </p:grpSpPr>
        <p:grpSp>
          <p:nvGrpSpPr>
            <p:cNvPr id="126" name="Group 4"/>
            <p:cNvGrpSpPr/>
            <p:nvPr/>
          </p:nvGrpSpPr>
          <p:grpSpPr>
            <a:xfrm>
              <a:off x="-228600" y="-369360"/>
              <a:ext cx="10283760" cy="6998760"/>
              <a:chOff x="-228600" y="-369360"/>
              <a:chExt cx="10283760" cy="6998760"/>
            </a:xfrm>
          </p:grpSpPr>
          <p:sp>
            <p:nvSpPr>
              <p:cNvPr id="127" name="Freeform 5"/>
              <p:cNvSpPr/>
              <p:nvPr/>
            </p:nvSpPr>
            <p:spPr>
              <a:xfrm>
                <a:off x="-228600" y="-224640"/>
                <a:ext cx="10283760" cy="6854040"/>
              </a:xfrm>
              <a:custGeom>
                <a:avLst/>
                <a:gdLst>
                  <a:gd name="textAreaLeft" fmla="*/ 0 w 10283760"/>
                  <a:gd name="textAreaRight" fmla="*/ 10284120 w 10283760"/>
                  <a:gd name="textAreaTop" fmla="*/ 0 h 6854040"/>
                  <a:gd name="textAreaBottom" fmla="*/ 6854400 h 6854040"/>
                </a:gdLst>
                <a:ahLst/>
                <a:rect l="textAreaLeft" t="textAreaTop" r="textAreaRight" b="textAreaBottom"/>
                <a:pathLst>
                  <a:path w="2708553" h="1805243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1790187"/>
                    </a:lnTo>
                    <a:cubicBezTo>
                      <a:pt x="2708553" y="1794180"/>
                      <a:pt x="2706967" y="1798010"/>
                      <a:pt x="2704143" y="1800833"/>
                    </a:cubicBezTo>
                    <a:cubicBezTo>
                      <a:pt x="2701320" y="1803657"/>
                      <a:pt x="2697490" y="1805243"/>
                      <a:pt x="2693497" y="1805243"/>
                    </a:cubicBezTo>
                    <a:lnTo>
                      <a:pt x="15056" y="1805243"/>
                    </a:lnTo>
                    <a:cubicBezTo>
                      <a:pt x="11063" y="1805243"/>
                      <a:pt x="7233" y="1803657"/>
                      <a:pt x="4410" y="1800833"/>
                    </a:cubicBezTo>
                    <a:cubicBezTo>
                      <a:pt x="1586" y="1798010"/>
                      <a:pt x="0" y="1794180"/>
                      <a:pt x="0" y="1790187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cap="sq" w="38100">
                <a:solidFill>
                  <a:srgbClr val="e5e1d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28" name="TextBox 6"/>
              <p:cNvSpPr/>
              <p:nvPr/>
            </p:nvSpPr>
            <p:spPr>
              <a:xfrm>
                <a:off x="-228600" y="-369360"/>
                <a:ext cx="10283760" cy="6998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129" name="TextBox 7"/>
            <p:cNvSpPr/>
            <p:nvPr/>
          </p:nvSpPr>
          <p:spPr>
            <a:xfrm>
              <a:off x="668880" y="755640"/>
              <a:ext cx="8489160" cy="80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6304"/>
                </a:lnSpc>
              </a:pPr>
              <a:r>
                <a:rPr b="0" lang="en-US" sz="6500" spc="-1" strike="noStrike">
                  <a:solidFill>
                    <a:srgbClr val="ffffff"/>
                  </a:solidFill>
                  <a:latin typeface="Archivo Black"/>
                  <a:ea typeface="Archivo Black"/>
                </a:rPr>
                <a:t>Challenges Faced:</a:t>
              </a:r>
              <a:endParaRPr b="0" lang="en-US" sz="6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TextBox 8"/>
            <p:cNvSpPr/>
            <p:nvPr/>
          </p:nvSpPr>
          <p:spPr>
            <a:xfrm>
              <a:off x="763920" y="1901160"/>
              <a:ext cx="7707240" cy="391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604440" indent="-302400" defTabSz="914400">
                <a:lnSpc>
                  <a:spcPts val="3779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165" strike="noStrike">
                  <a:solidFill>
                    <a:srgbClr val="ffffff"/>
                  </a:solidFill>
                  <a:latin typeface="Red Hat Display"/>
                  <a:ea typeface="Red Hat Display"/>
                </a:rPr>
                <a:t>Trouble preventing the file from being overwritten when saving transactions.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604440" indent="-302400" defTabSz="914400">
                <a:lnSpc>
                  <a:spcPts val="3779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165" strike="noStrike">
                  <a:solidFill>
                    <a:srgbClr val="ffffff"/>
                  </a:solidFill>
                  <a:latin typeface="Red Hat Display"/>
                  <a:ea typeface="Red Hat Display"/>
                </a:rPr>
                <a:t>Issues keeping the GUI and file updates in sync in real time.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604440" indent="-302400" defTabSz="914400">
                <a:lnSpc>
                  <a:spcPts val="3779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165" strike="noStrike">
                  <a:solidFill>
                    <a:srgbClr val="ffffff"/>
                  </a:solidFill>
                  <a:latin typeface="Red Hat Display"/>
                  <a:ea typeface="Red Hat Display"/>
                </a:rPr>
                <a:t>Errors caused by invalid or missing user inputs.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1" name="Freeform 9"/>
          <p:cNvSpPr/>
          <p:nvPr/>
        </p:nvSpPr>
        <p:spPr>
          <a:xfrm>
            <a:off x="11593800" y="7858800"/>
            <a:ext cx="896040" cy="896040"/>
          </a:xfrm>
          <a:custGeom>
            <a:avLst/>
            <a:gdLst>
              <a:gd name="textAreaLeft" fmla="*/ 0 w 896040"/>
              <a:gd name="textAreaRight" fmla="*/ 896400 w 896040"/>
              <a:gd name="textAreaTop" fmla="*/ 0 h 896040"/>
              <a:gd name="textAreaBottom" fmla="*/ 896400 h 896040"/>
            </a:gdLst>
            <a:ahLst/>
            <a:rect l="textAreaLeft" t="textAreaTop" r="textAreaRight" b="textAreaBottom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Freeform 10"/>
          <p:cNvSpPr/>
          <p:nvPr/>
        </p:nvSpPr>
        <p:spPr>
          <a:xfrm flipV="1" rot="20057400">
            <a:off x="11967840" y="-1036080"/>
            <a:ext cx="7673760" cy="8229240"/>
          </a:xfrm>
          <a:custGeom>
            <a:avLst/>
            <a:gdLst>
              <a:gd name="textAreaLeft" fmla="*/ 0 w 7673760"/>
              <a:gd name="textAreaRight" fmla="*/ 7674120 w 7673760"/>
              <a:gd name="textAreaTop" fmla="*/ -360 h 8229240"/>
              <a:gd name="textAreaBottom" fmla="*/ 8229240 h 8229240"/>
            </a:gdLst>
            <a:ahLst/>
            <a:rect l="textAreaLeft" t="textAreaTop" r="textAreaRight" b="textAreaBottom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3" name="Group 11"/>
          <p:cNvGrpSpPr/>
          <p:nvPr/>
        </p:nvGrpSpPr>
        <p:grpSpPr>
          <a:xfrm>
            <a:off x="9852480" y="2488680"/>
            <a:ext cx="9998280" cy="8773200"/>
            <a:chOff x="9852480" y="2488680"/>
            <a:chExt cx="9998280" cy="8773200"/>
          </a:xfrm>
        </p:grpSpPr>
        <p:grpSp>
          <p:nvGrpSpPr>
            <p:cNvPr id="134" name="Group 12"/>
            <p:cNvGrpSpPr/>
            <p:nvPr/>
          </p:nvGrpSpPr>
          <p:grpSpPr>
            <a:xfrm>
              <a:off x="9852480" y="2488680"/>
              <a:ext cx="9998280" cy="8773200"/>
              <a:chOff x="9852480" y="2488680"/>
              <a:chExt cx="9998280" cy="8773200"/>
            </a:xfrm>
          </p:grpSpPr>
          <p:sp>
            <p:nvSpPr>
              <p:cNvPr id="135" name="Freeform 13"/>
              <p:cNvSpPr/>
              <p:nvPr/>
            </p:nvSpPr>
            <p:spPr>
              <a:xfrm>
                <a:off x="9852480" y="2629440"/>
                <a:ext cx="9998280" cy="8632440"/>
              </a:xfrm>
              <a:custGeom>
                <a:avLst/>
                <a:gdLst>
                  <a:gd name="textAreaLeft" fmla="*/ 0 w 9998280"/>
                  <a:gd name="textAreaRight" fmla="*/ 9998640 w 9998280"/>
                  <a:gd name="textAreaTop" fmla="*/ 0 h 8632440"/>
                  <a:gd name="textAreaBottom" fmla="*/ 8632800 h 8632440"/>
                </a:gdLst>
                <a:ahLst/>
                <a:rect l="textAreaLeft" t="textAreaTop" r="textAreaRight" b="textAreaBottom"/>
                <a:pathLst>
                  <a:path w="2708553" h="2338580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323524"/>
                    </a:lnTo>
                    <a:cubicBezTo>
                      <a:pt x="2708553" y="2327517"/>
                      <a:pt x="2706967" y="2331347"/>
                      <a:pt x="2704143" y="2334171"/>
                    </a:cubicBezTo>
                    <a:cubicBezTo>
                      <a:pt x="2701320" y="2336994"/>
                      <a:pt x="2697490" y="2338580"/>
                      <a:pt x="2693497" y="2338580"/>
                    </a:cubicBezTo>
                    <a:lnTo>
                      <a:pt x="15056" y="2338580"/>
                    </a:lnTo>
                    <a:cubicBezTo>
                      <a:pt x="11063" y="2338580"/>
                      <a:pt x="7233" y="2336994"/>
                      <a:pt x="4410" y="2334171"/>
                    </a:cubicBezTo>
                    <a:cubicBezTo>
                      <a:pt x="1586" y="2331347"/>
                      <a:pt x="0" y="2327517"/>
                      <a:pt x="0" y="2323524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cap="sq" w="38100">
                <a:solidFill>
                  <a:srgbClr val="e5e1d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36" name="TextBox 14"/>
              <p:cNvSpPr/>
              <p:nvPr/>
            </p:nvSpPr>
            <p:spPr>
              <a:xfrm>
                <a:off x="9852480" y="2488680"/>
                <a:ext cx="9998280" cy="877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 defTabSz="914400">
                  <a:lnSpc>
                    <a:spcPts val="2659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137" name="TextBox 15"/>
            <p:cNvSpPr/>
            <p:nvPr/>
          </p:nvSpPr>
          <p:spPr>
            <a:xfrm>
              <a:off x="10724760" y="3585240"/>
              <a:ext cx="8253720" cy="155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6131"/>
                </a:lnSpc>
              </a:pPr>
              <a:r>
                <a:rPr b="0" lang="en-US" sz="6320" spc="-1" strike="noStrike">
                  <a:solidFill>
                    <a:srgbClr val="ffffff"/>
                  </a:solidFill>
                  <a:latin typeface="Archivo Black"/>
                  <a:ea typeface="Archivo Black"/>
                </a:rPr>
                <a:t>Technical Fixes for Challenges:</a:t>
              </a:r>
              <a:endParaRPr b="0" lang="en-US" sz="632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TextBox 16"/>
            <p:cNvSpPr/>
            <p:nvPr/>
          </p:nvSpPr>
          <p:spPr>
            <a:xfrm>
              <a:off x="10817640" y="5480280"/>
              <a:ext cx="7493400" cy="359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lvl="1" marL="524880" indent="-262440" defTabSz="914400">
                <a:lnSpc>
                  <a:spcPts val="328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Arial"/>
                <a:buChar char="•"/>
              </a:pPr>
              <a:r>
                <a:rPr b="0" lang="en-US" sz="2430" spc="143" strike="noStrike">
                  <a:solidFill>
                    <a:srgbClr val="ffffff"/>
                  </a:solidFill>
                  <a:latin typeface="Red Hat Display"/>
                  <a:ea typeface="Red Hat Display"/>
                </a:rPr>
                <a:t>Open the file in append mode to prevent overwriting.</a:t>
              </a:r>
              <a:endParaRPr b="0" lang="en-US" sz="243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524880" indent="-262440" defTabSz="914400">
                <a:lnSpc>
                  <a:spcPts val="328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Arial"/>
                <a:buChar char="•"/>
              </a:pPr>
              <a:r>
                <a:rPr b="0" lang="en-US" sz="2430" spc="143" strike="noStrike">
                  <a:solidFill>
                    <a:srgbClr val="ffffff"/>
                  </a:solidFill>
                  <a:latin typeface="Red Hat Display"/>
                  <a:ea typeface="Red Hat Display"/>
                </a:rPr>
                <a:t>Write each transaction immediately to keep the GUI and file in sync.</a:t>
              </a:r>
              <a:endParaRPr b="0" lang="en-US" sz="243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524880" indent="-262440" defTabSz="914400">
                <a:lnSpc>
                  <a:spcPts val="328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ffffff"/>
                </a:buClr>
                <a:buFont typeface="Arial"/>
                <a:buChar char="•"/>
              </a:pPr>
              <a:r>
                <a:rPr b="0" lang="en-US" sz="2430" spc="143" strike="noStrike">
                  <a:solidFill>
                    <a:srgbClr val="ffffff"/>
                  </a:solidFill>
                  <a:latin typeface="Red Hat Display"/>
                  <a:ea typeface="Red Hat Display"/>
                </a:rPr>
                <a:t>Validate user inputs to avoid errors from missing or invalid data.</a:t>
              </a:r>
              <a:endParaRPr b="0" lang="en-US" sz="243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ts val="328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2666160" y="3337200"/>
            <a:ext cx="9245160" cy="32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99"/>
              </a:lnSpc>
            </a:pPr>
            <a:r>
              <a:rPr b="0" lang="en-US" sz="14600" spc="-1" strike="noStrike">
                <a:solidFill>
                  <a:srgbClr val="ffffff"/>
                </a:solidFill>
                <a:latin typeface="Archivo Black"/>
                <a:ea typeface="Archivo Black"/>
              </a:rPr>
              <a:t>Thank you!</a:t>
            </a:r>
            <a:endParaRPr b="0" lang="en-US" sz="1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Freeform 4"/>
          <p:cNvSpPr/>
          <p:nvPr/>
        </p:nvSpPr>
        <p:spPr>
          <a:xfrm rot="10435800">
            <a:off x="-3240360" y="-2476440"/>
            <a:ext cx="7951320" cy="8526960"/>
          </a:xfrm>
          <a:custGeom>
            <a:avLst/>
            <a:gdLst>
              <a:gd name="textAreaLeft" fmla="*/ 0 w 7951320"/>
              <a:gd name="textAreaRight" fmla="*/ 7951680 w 7951320"/>
              <a:gd name="textAreaTop" fmla="*/ 0 h 8526960"/>
              <a:gd name="textAreaBottom" fmla="*/ 8527320 h 8526960"/>
            </a:gdLst>
            <a:ahLst/>
            <a:rect l="textAreaLeft" t="textAreaTop" r="textAreaRight" b="textAreaBottom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DAGyc1yMqKA</dc:identifier>
  <dc:language>en-US</dc:language>
  <cp:lastModifiedBy/>
  <dcterms:modified xsi:type="dcterms:W3CDTF">2025-10-12T19:32:19Z</dcterms:modified>
  <cp:revision>3</cp:revision>
  <dc:subject/>
  <dc:title> DSA LAB II ASSIGNMENT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